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x="18288000" cy="10287000"/>
  <p:notesSz cx="6858000" cy="9144000"/>
  <p:embeddedFontLst>
    <p:embeddedFont>
      <p:font typeface="Anton" charset="1" panose="00000500000000000000"/>
      <p:regular r:id="rId57"/>
    </p:embeddedFont>
    <p:embeddedFont>
      <p:font typeface="Montserrat Bold" charset="1" panose="00000800000000000000"/>
      <p:regular r:id="rId58"/>
    </p:embeddedFont>
    <p:embeddedFont>
      <p:font typeface="Montserrat Medium" charset="1" panose="00000600000000000000"/>
      <p:regular r:id="rId59"/>
    </p:embeddedFont>
    <p:embeddedFont>
      <p:font typeface="Open Sans" charset="1" panose="020B0606030504020204"/>
      <p:regular r:id="rId60"/>
    </p:embeddedFont>
    <p:embeddedFont>
      <p:font typeface="Calibri (MS)" charset="1" panose="020F0502020204030204"/>
      <p:regular r:id="rId61"/>
    </p:embeddedFont>
    <p:embeddedFont>
      <p:font typeface="Courier New" charset="1" panose="02070309020205020404"/>
      <p:regular r:id="rId62"/>
    </p:embeddedFont>
    <p:embeddedFont>
      <p:font typeface="Calibri (MS) Bold" charset="1" panose="020F0702030404030204"/>
      <p:regular r:id="rId63"/>
    </p:embeddedFont>
    <p:embeddedFont>
      <p:font typeface="Montserrat" charset="1" panose="00000500000000000000"/>
      <p:regular r:id="rId64"/>
    </p:embeddedFont>
    <p:embeddedFont>
      <p:font typeface="Open Sans Bold" charset="1" panose="020B0806030504020204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fonts/font57.fntdata" Type="http://schemas.openxmlformats.org/officeDocument/2006/relationships/font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63" Target="fonts/font63.fntdata" Type="http://schemas.openxmlformats.org/officeDocument/2006/relationships/font"/><Relationship Id="rId64" Target="fonts/font64.fntdata" Type="http://schemas.openxmlformats.org/officeDocument/2006/relationships/font"/><Relationship Id="rId65" Target="fonts/font65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58604" y="480149"/>
            <a:ext cx="9296692" cy="929669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5DA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7765" y="1459165"/>
            <a:ext cx="7734291" cy="7368670"/>
          </a:xfrm>
          <a:custGeom>
            <a:avLst/>
            <a:gdLst/>
            <a:ahLst/>
            <a:cxnLst/>
            <a:rect r="r" b="b" t="t" l="l"/>
            <a:pathLst>
              <a:path h="7368670" w="7734291">
                <a:moveTo>
                  <a:pt x="0" y="0"/>
                </a:moveTo>
                <a:lnTo>
                  <a:pt x="7734290" y="0"/>
                </a:lnTo>
                <a:lnTo>
                  <a:pt x="7734290" y="7368670"/>
                </a:lnTo>
                <a:lnTo>
                  <a:pt x="0" y="7368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71248" y="5281461"/>
            <a:ext cx="1050143" cy="1698492"/>
          </a:xfrm>
          <a:custGeom>
            <a:avLst/>
            <a:gdLst/>
            <a:ahLst/>
            <a:cxnLst/>
            <a:rect r="r" b="b" t="t" l="l"/>
            <a:pathLst>
              <a:path h="1698492" w="1050143">
                <a:moveTo>
                  <a:pt x="0" y="0"/>
                </a:moveTo>
                <a:lnTo>
                  <a:pt x="1050143" y="0"/>
                </a:lnTo>
                <a:lnTo>
                  <a:pt x="1050143" y="1698492"/>
                </a:lnTo>
                <a:lnTo>
                  <a:pt x="0" y="1698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90074" y="1687765"/>
            <a:ext cx="8269226" cy="3125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065"/>
              </a:lnSpc>
              <a:spcBef>
                <a:spcPct val="0"/>
              </a:spcBef>
            </a:pPr>
            <a:r>
              <a:rPr lang="en-US" sz="12065">
                <a:solidFill>
                  <a:srgbClr val="5555AB"/>
                </a:solidFill>
                <a:latin typeface="Anton"/>
                <a:ea typeface="Anton"/>
                <a:cs typeface="Anton"/>
                <a:sym typeface="Anton"/>
              </a:rPr>
              <a:t>SISTEMAS OPERACIONAIS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90074" y="5543316"/>
            <a:ext cx="6904089" cy="1296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2463" b="true">
                <a:solidFill>
                  <a:srgbClr val="333A8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EQUIPE GEMMA: GENRESEARCH-SERVIDOR</a:t>
            </a:r>
          </a:p>
          <a:p>
            <a:pPr algn="l">
              <a:lnSpc>
                <a:spcPts val="2463"/>
              </a:lnSpc>
            </a:pPr>
          </a:p>
          <a:p>
            <a:pPr algn="l">
              <a:lnSpc>
                <a:spcPts val="2863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071248" y="8740292"/>
            <a:ext cx="10949299" cy="106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3"/>
              </a:lnSpc>
            </a:pPr>
            <a:r>
              <a:rPr lang="en-US" sz="1963" b="true">
                <a:solidFill>
                  <a:srgbClr val="333A8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ENZO EMANUEL COSTA MAIA, FILIPE DE CARVALHO GODOY, GIULIAN FÁBIO BASTOS AMORIM LIMA, JOSÉ FAGNER SILVA JUNQUEIRA, KATYANE DOS SANTOS, RAUANY INGRID SANTOS DE JESUS E VÊNISSON CARDOSO DOS SANTOS</a:t>
            </a:r>
          </a:p>
          <a:p>
            <a:pPr algn="l">
              <a:lnSpc>
                <a:spcPts val="2363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574837" y="244714"/>
            <a:ext cx="7734562" cy="528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863" b="true">
                <a:solidFill>
                  <a:srgbClr val="333A8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GOOGLE/GEMMA-4-E2B-IT-QAT-Q4_0-GGUF</a:t>
            </a:r>
          </a:p>
          <a:p>
            <a:pPr algn="l">
              <a:lnSpc>
                <a:spcPts val="2263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6048089" y="-937979"/>
            <a:ext cx="3403008" cy="340300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5DA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990074" y="4808925"/>
            <a:ext cx="6904089" cy="686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2463" b="true">
                <a:solidFill>
                  <a:srgbClr val="333A8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ATIVIDADE 2</a:t>
            </a:r>
          </a:p>
          <a:p>
            <a:pPr algn="l">
              <a:lnSpc>
                <a:spcPts val="286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636296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8"/>
                </a:lnTo>
                <a:lnTo>
                  <a:pt x="0" y="25089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345636" y="1381027"/>
            <a:ext cx="13822196" cy="7657913"/>
            <a:chOff x="0" y="0"/>
            <a:chExt cx="8513581" cy="47167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945" y="1273"/>
              <a:ext cx="8514818" cy="4716345"/>
            </a:xfrm>
            <a:custGeom>
              <a:avLst/>
              <a:gdLst/>
              <a:ahLst/>
              <a:cxnLst/>
              <a:rect r="r" b="b" t="t" l="l"/>
              <a:pathLst>
                <a:path h="4716345" w="8514818">
                  <a:moveTo>
                    <a:pt x="6021604" y="4653277"/>
                  </a:moveTo>
                  <a:cubicBezTo>
                    <a:pt x="5972340" y="4660897"/>
                    <a:pt x="5934274" y="4671057"/>
                    <a:pt x="5896206" y="4673597"/>
                  </a:cubicBezTo>
                  <a:cubicBezTo>
                    <a:pt x="5681240" y="4683757"/>
                    <a:pt x="5468512" y="4693917"/>
                    <a:pt x="5253545" y="4702807"/>
                  </a:cubicBezTo>
                  <a:cubicBezTo>
                    <a:pt x="5143823" y="4706617"/>
                    <a:pt x="5034100" y="4710427"/>
                    <a:pt x="4924377" y="4711697"/>
                  </a:cubicBezTo>
                  <a:cubicBezTo>
                    <a:pt x="4805698" y="4714237"/>
                    <a:pt x="4687018" y="4718047"/>
                    <a:pt x="4570578" y="4715507"/>
                  </a:cubicBezTo>
                  <a:cubicBezTo>
                    <a:pt x="4458616" y="4714237"/>
                    <a:pt x="4346654" y="4710427"/>
                    <a:pt x="4239171" y="4698997"/>
                  </a:cubicBezTo>
                  <a:cubicBezTo>
                    <a:pt x="4100338" y="4685027"/>
                    <a:pt x="3959266" y="4685027"/>
                    <a:pt x="3822673" y="4672327"/>
                  </a:cubicBezTo>
                  <a:cubicBezTo>
                    <a:pt x="3466634" y="4639307"/>
                    <a:pt x="3103877" y="4648197"/>
                    <a:pt x="2745599" y="4634227"/>
                  </a:cubicBezTo>
                  <a:cubicBezTo>
                    <a:pt x="2544068" y="4626607"/>
                    <a:pt x="2342537" y="4608827"/>
                    <a:pt x="2141005" y="4593587"/>
                  </a:cubicBezTo>
                  <a:cubicBezTo>
                    <a:pt x="1912603" y="4577077"/>
                    <a:pt x="1684201" y="4558027"/>
                    <a:pt x="1453559" y="4540247"/>
                  </a:cubicBezTo>
                  <a:cubicBezTo>
                    <a:pt x="1285617" y="4527547"/>
                    <a:pt x="1115434" y="4514847"/>
                    <a:pt x="947492" y="4502147"/>
                  </a:cubicBezTo>
                  <a:cubicBezTo>
                    <a:pt x="943013" y="4502147"/>
                    <a:pt x="938535" y="4500877"/>
                    <a:pt x="934056" y="4500877"/>
                  </a:cubicBezTo>
                  <a:cubicBezTo>
                    <a:pt x="792984" y="4466587"/>
                    <a:pt x="642955" y="4439917"/>
                    <a:pt x="513080" y="4395467"/>
                  </a:cubicBezTo>
                  <a:cubicBezTo>
                    <a:pt x="293634" y="4319267"/>
                    <a:pt x="199586" y="4197347"/>
                    <a:pt x="190629" y="4053837"/>
                  </a:cubicBezTo>
                  <a:cubicBezTo>
                    <a:pt x="188390" y="4004307"/>
                    <a:pt x="177194" y="3956047"/>
                    <a:pt x="177194" y="3906517"/>
                  </a:cubicBezTo>
                  <a:cubicBezTo>
                    <a:pt x="179433" y="3837937"/>
                    <a:pt x="188390" y="3770627"/>
                    <a:pt x="195108" y="3703317"/>
                  </a:cubicBezTo>
                  <a:cubicBezTo>
                    <a:pt x="213022" y="3502657"/>
                    <a:pt x="221979" y="3301997"/>
                    <a:pt x="195108" y="3101337"/>
                  </a:cubicBezTo>
                  <a:cubicBezTo>
                    <a:pt x="170476" y="2920997"/>
                    <a:pt x="148084" y="2741927"/>
                    <a:pt x="123452" y="2561587"/>
                  </a:cubicBezTo>
                  <a:cubicBezTo>
                    <a:pt x="107778" y="2446017"/>
                    <a:pt x="87624" y="2331717"/>
                    <a:pt x="74189" y="2216147"/>
                  </a:cubicBezTo>
                  <a:cubicBezTo>
                    <a:pt x="65232" y="2139947"/>
                    <a:pt x="67471" y="2062477"/>
                    <a:pt x="58514" y="1986277"/>
                  </a:cubicBezTo>
                  <a:cubicBezTo>
                    <a:pt x="54036" y="1943097"/>
                    <a:pt x="29404" y="1901187"/>
                    <a:pt x="27165" y="1858007"/>
                  </a:cubicBezTo>
                  <a:cubicBezTo>
                    <a:pt x="18208" y="1753867"/>
                    <a:pt x="15969" y="1648457"/>
                    <a:pt x="11490" y="1543047"/>
                  </a:cubicBezTo>
                  <a:cubicBezTo>
                    <a:pt x="9251" y="1502407"/>
                    <a:pt x="-1945" y="1461767"/>
                    <a:pt x="294" y="1421127"/>
                  </a:cubicBezTo>
                  <a:cubicBezTo>
                    <a:pt x="2533" y="1357627"/>
                    <a:pt x="15969" y="1294127"/>
                    <a:pt x="18208" y="1230627"/>
                  </a:cubicBezTo>
                  <a:cubicBezTo>
                    <a:pt x="20447" y="1156967"/>
                    <a:pt x="7012" y="1083307"/>
                    <a:pt x="11490" y="1010917"/>
                  </a:cubicBezTo>
                  <a:cubicBezTo>
                    <a:pt x="11490" y="941067"/>
                    <a:pt x="27165" y="872487"/>
                    <a:pt x="42840" y="802637"/>
                  </a:cubicBezTo>
                  <a:cubicBezTo>
                    <a:pt x="47318" y="778507"/>
                    <a:pt x="78668" y="756917"/>
                    <a:pt x="87624" y="732787"/>
                  </a:cubicBezTo>
                  <a:cubicBezTo>
                    <a:pt x="125692" y="613407"/>
                    <a:pt x="165998" y="494027"/>
                    <a:pt x="264524" y="383537"/>
                  </a:cubicBezTo>
                  <a:cubicBezTo>
                    <a:pt x="286917" y="359407"/>
                    <a:pt x="322744" y="337817"/>
                    <a:pt x="356333" y="318767"/>
                  </a:cubicBezTo>
                  <a:cubicBezTo>
                    <a:pt x="367529" y="312417"/>
                    <a:pt x="394400" y="316227"/>
                    <a:pt x="401118" y="316227"/>
                  </a:cubicBezTo>
                  <a:cubicBezTo>
                    <a:pt x="416792" y="299717"/>
                    <a:pt x="425749" y="283207"/>
                    <a:pt x="443663" y="275587"/>
                  </a:cubicBezTo>
                  <a:cubicBezTo>
                    <a:pt x="539950" y="233677"/>
                    <a:pt x="640716" y="203197"/>
                    <a:pt x="766113" y="195577"/>
                  </a:cubicBezTo>
                  <a:cubicBezTo>
                    <a:pt x="860161" y="189227"/>
                    <a:pt x="951970" y="166367"/>
                    <a:pt x="1046018" y="153667"/>
                  </a:cubicBezTo>
                  <a:cubicBezTo>
                    <a:pt x="1160219" y="138427"/>
                    <a:pt x="1274420" y="120647"/>
                    <a:pt x="1393100" y="111757"/>
                  </a:cubicBezTo>
                  <a:cubicBezTo>
                    <a:pt x="1500583" y="104137"/>
                    <a:pt x="1603588" y="87627"/>
                    <a:pt x="1713311" y="82547"/>
                  </a:cubicBezTo>
                  <a:cubicBezTo>
                    <a:pt x="1825273" y="77467"/>
                    <a:pt x="1937235" y="62227"/>
                    <a:pt x="2051436" y="57147"/>
                  </a:cubicBezTo>
                  <a:cubicBezTo>
                    <a:pt x="2360451" y="44447"/>
                    <a:pt x="2671705" y="35557"/>
                    <a:pt x="2980719" y="25397"/>
                  </a:cubicBezTo>
                  <a:cubicBezTo>
                    <a:pt x="3056853" y="22857"/>
                    <a:pt x="3132987" y="25397"/>
                    <a:pt x="3209121" y="26667"/>
                  </a:cubicBezTo>
                  <a:cubicBezTo>
                    <a:pt x="3247189" y="27937"/>
                    <a:pt x="3285256" y="33017"/>
                    <a:pt x="3325562" y="35557"/>
                  </a:cubicBezTo>
                  <a:cubicBezTo>
                    <a:pt x="3343476" y="36827"/>
                    <a:pt x="3361390" y="33017"/>
                    <a:pt x="3379304" y="33017"/>
                  </a:cubicBezTo>
                  <a:cubicBezTo>
                    <a:pt x="3433045" y="33017"/>
                    <a:pt x="3489026" y="33017"/>
                    <a:pt x="3542768" y="31747"/>
                  </a:cubicBezTo>
                  <a:cubicBezTo>
                    <a:pt x="3645773" y="29207"/>
                    <a:pt x="3751017" y="22857"/>
                    <a:pt x="3854022" y="22857"/>
                  </a:cubicBezTo>
                  <a:cubicBezTo>
                    <a:pt x="3954788" y="22857"/>
                    <a:pt x="4055553" y="26667"/>
                    <a:pt x="4156319" y="29207"/>
                  </a:cubicBezTo>
                  <a:lnTo>
                    <a:pt x="4236932" y="29207"/>
                  </a:lnTo>
                  <a:cubicBezTo>
                    <a:pt x="4360090" y="26667"/>
                    <a:pt x="4481008" y="26667"/>
                    <a:pt x="4604166" y="22857"/>
                  </a:cubicBezTo>
                  <a:cubicBezTo>
                    <a:pt x="4722846" y="19047"/>
                    <a:pt x="4839286" y="10157"/>
                    <a:pt x="4957966" y="6347"/>
                  </a:cubicBezTo>
                  <a:cubicBezTo>
                    <a:pt x="5013947" y="3807"/>
                    <a:pt x="5072167" y="3807"/>
                    <a:pt x="5128148" y="10157"/>
                  </a:cubicBezTo>
                  <a:cubicBezTo>
                    <a:pt x="5213239" y="19047"/>
                    <a:pt x="5293852" y="24127"/>
                    <a:pt x="5378942" y="10157"/>
                  </a:cubicBezTo>
                  <a:cubicBezTo>
                    <a:pt x="5410292" y="5077"/>
                    <a:pt x="5450598" y="13967"/>
                    <a:pt x="5486426" y="16507"/>
                  </a:cubicBezTo>
                  <a:cubicBezTo>
                    <a:pt x="5502100" y="17777"/>
                    <a:pt x="5520014" y="20317"/>
                    <a:pt x="5528971" y="16507"/>
                  </a:cubicBezTo>
                  <a:cubicBezTo>
                    <a:pt x="5589431" y="-8893"/>
                    <a:pt x="5645412" y="-2543"/>
                    <a:pt x="5703632" y="19047"/>
                  </a:cubicBezTo>
                  <a:cubicBezTo>
                    <a:pt x="5710350" y="21587"/>
                    <a:pt x="5728263" y="15237"/>
                    <a:pt x="5741699" y="15237"/>
                  </a:cubicBezTo>
                  <a:cubicBezTo>
                    <a:pt x="5795441" y="15237"/>
                    <a:pt x="5849182" y="15237"/>
                    <a:pt x="5905163" y="16507"/>
                  </a:cubicBezTo>
                  <a:cubicBezTo>
                    <a:pt x="5945469" y="17777"/>
                    <a:pt x="5983536" y="25397"/>
                    <a:pt x="6023843" y="27937"/>
                  </a:cubicBezTo>
                  <a:cubicBezTo>
                    <a:pt x="6111173" y="34287"/>
                    <a:pt x="6200743" y="44447"/>
                    <a:pt x="6290312" y="44447"/>
                  </a:cubicBezTo>
                  <a:cubicBezTo>
                    <a:pt x="6458255" y="45717"/>
                    <a:pt x="6626198" y="49527"/>
                    <a:pt x="6791901" y="69847"/>
                  </a:cubicBezTo>
                  <a:cubicBezTo>
                    <a:pt x="6946408" y="88897"/>
                    <a:pt x="7105394" y="88897"/>
                    <a:pt x="7262141" y="104137"/>
                  </a:cubicBezTo>
                  <a:cubicBezTo>
                    <a:pt x="7356190" y="113027"/>
                    <a:pt x="7452476" y="129537"/>
                    <a:pt x="7533089" y="156207"/>
                  </a:cubicBezTo>
                  <a:cubicBezTo>
                    <a:pt x="7620419" y="184147"/>
                    <a:pt x="7687596" y="229867"/>
                    <a:pt x="7765969" y="267967"/>
                  </a:cubicBezTo>
                  <a:cubicBezTo>
                    <a:pt x="7795080" y="281937"/>
                    <a:pt x="7837625" y="292097"/>
                    <a:pt x="7857778" y="309877"/>
                  </a:cubicBezTo>
                  <a:cubicBezTo>
                    <a:pt x="7915999" y="358137"/>
                    <a:pt x="7967501" y="408937"/>
                    <a:pt x="8019003" y="459737"/>
                  </a:cubicBezTo>
                  <a:cubicBezTo>
                    <a:pt x="8057070" y="496567"/>
                    <a:pt x="8095138" y="534667"/>
                    <a:pt x="8124247" y="572767"/>
                  </a:cubicBezTo>
                  <a:cubicBezTo>
                    <a:pt x="8155597" y="617217"/>
                    <a:pt x="8180228" y="662937"/>
                    <a:pt x="8204860" y="709927"/>
                  </a:cubicBezTo>
                  <a:cubicBezTo>
                    <a:pt x="8242928" y="783587"/>
                    <a:pt x="8287712" y="857247"/>
                    <a:pt x="8312343" y="933447"/>
                  </a:cubicBezTo>
                  <a:cubicBezTo>
                    <a:pt x="8348171" y="1040127"/>
                    <a:pt x="8366085" y="1149347"/>
                    <a:pt x="8392956" y="1257297"/>
                  </a:cubicBezTo>
                  <a:cubicBezTo>
                    <a:pt x="8401913" y="1292857"/>
                    <a:pt x="8413109" y="1328417"/>
                    <a:pt x="8417588" y="1363977"/>
                  </a:cubicBezTo>
                  <a:cubicBezTo>
                    <a:pt x="8431023" y="1465577"/>
                    <a:pt x="8439980" y="1565907"/>
                    <a:pt x="8451176" y="1667507"/>
                  </a:cubicBezTo>
                  <a:cubicBezTo>
                    <a:pt x="8466851" y="1793237"/>
                    <a:pt x="8489244" y="1917697"/>
                    <a:pt x="8500440" y="2043427"/>
                  </a:cubicBezTo>
                  <a:cubicBezTo>
                    <a:pt x="8511636" y="2164077"/>
                    <a:pt x="8516716" y="2285997"/>
                    <a:pt x="8514175" y="2407917"/>
                  </a:cubicBezTo>
                  <a:cubicBezTo>
                    <a:pt x="8509397" y="2611117"/>
                    <a:pt x="8491482" y="2813047"/>
                    <a:pt x="8473569" y="3016247"/>
                  </a:cubicBezTo>
                  <a:cubicBezTo>
                    <a:pt x="8462372" y="3141977"/>
                    <a:pt x="8446697" y="3266437"/>
                    <a:pt x="8424305" y="3390897"/>
                  </a:cubicBezTo>
                  <a:cubicBezTo>
                    <a:pt x="8401913" y="3515357"/>
                    <a:pt x="8368324" y="3638547"/>
                    <a:pt x="8343693" y="3763007"/>
                  </a:cubicBezTo>
                  <a:cubicBezTo>
                    <a:pt x="8325778" y="3849367"/>
                    <a:pt x="8321300" y="3935727"/>
                    <a:pt x="8301147" y="4020817"/>
                  </a:cubicBezTo>
                  <a:cubicBezTo>
                    <a:pt x="8283234" y="4098287"/>
                    <a:pt x="8216056" y="4166867"/>
                    <a:pt x="8126487" y="4224017"/>
                  </a:cubicBezTo>
                  <a:cubicBezTo>
                    <a:pt x="8052592" y="4272277"/>
                    <a:pt x="7994372" y="4326887"/>
                    <a:pt x="7918238" y="4373877"/>
                  </a:cubicBezTo>
                  <a:cubicBezTo>
                    <a:pt x="7851061" y="4415787"/>
                    <a:pt x="7777165" y="4457697"/>
                    <a:pt x="7660726" y="4458967"/>
                  </a:cubicBezTo>
                  <a:cubicBezTo>
                    <a:pt x="7633855" y="4458967"/>
                    <a:pt x="7609223" y="4474207"/>
                    <a:pt x="7582353" y="4481827"/>
                  </a:cubicBezTo>
                  <a:cubicBezTo>
                    <a:pt x="7468151" y="4509767"/>
                    <a:pt x="7349471" y="4533897"/>
                    <a:pt x="7237509" y="4564377"/>
                  </a:cubicBezTo>
                  <a:cubicBezTo>
                    <a:pt x="7031500" y="4620257"/>
                    <a:pt x="6809815" y="4629147"/>
                    <a:pt x="6588130" y="4634227"/>
                  </a:cubicBezTo>
                  <a:cubicBezTo>
                    <a:pt x="6503039" y="4636767"/>
                    <a:pt x="6415709" y="4632957"/>
                    <a:pt x="6330618" y="4636767"/>
                  </a:cubicBezTo>
                  <a:cubicBezTo>
                    <a:pt x="6288073" y="4638037"/>
                    <a:pt x="6247767" y="4649467"/>
                    <a:pt x="6207460" y="4654547"/>
                  </a:cubicBezTo>
                  <a:cubicBezTo>
                    <a:pt x="6189546" y="4657087"/>
                    <a:pt x="6171633" y="4655817"/>
                    <a:pt x="6151479" y="4657087"/>
                  </a:cubicBezTo>
                  <a:cubicBezTo>
                    <a:pt x="6124609" y="4658357"/>
                    <a:pt x="6097738" y="4662167"/>
                    <a:pt x="6070867" y="4660897"/>
                  </a:cubicBezTo>
                  <a:cubicBezTo>
                    <a:pt x="6043996" y="4658357"/>
                    <a:pt x="6026082" y="4653277"/>
                    <a:pt x="6021604" y="4653277"/>
                  </a:cubicBezTo>
                  <a:close/>
                </a:path>
              </a:pathLst>
            </a:custGeom>
            <a:blipFill>
              <a:blip r:embed="rId4"/>
              <a:stretch>
                <a:fillRect l="0" t="-35124" r="0" b="-35124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9358316" y="8296968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8" y="0"/>
                </a:moveTo>
                <a:lnTo>
                  <a:pt x="0" y="0"/>
                </a:lnTo>
                <a:lnTo>
                  <a:pt x="0" y="1187583"/>
                </a:lnTo>
                <a:lnTo>
                  <a:pt x="734258" y="1187583"/>
                </a:lnTo>
                <a:lnTo>
                  <a:pt x="73425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9493" y="574550"/>
            <a:ext cx="12900915" cy="10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96"/>
              </a:lnSpc>
              <a:spcBef>
                <a:spcPct val="0"/>
              </a:spcBef>
            </a:pPr>
            <a:r>
              <a:rPr lang="en-US" sz="7996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AMBIENTE EXPERIMENTAL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86120"/>
            <a:ext cx="6697811" cy="6510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894" b="true">
                <a:solidFill>
                  <a:srgbClr val="484FA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ambiente WSL2 utilizado na AV2, foi identificado o sistema Ubuntu 24.04.1 LTS, com kernel 6.18.40.1, executando em um processador Intel Core i5-8265U com 4 núcleos físicos e 8 threads. O ambiente dispõe de aproximadamente 3,8 GiB de memória RAM, 1</a:t>
            </a:r>
            <a:r>
              <a:rPr lang="en-US" sz="2894" b="true">
                <a:solidFill>
                  <a:srgbClr val="484FA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GiB de memória swap e 231 GB livres no disco do Linux. O repositório foi mantido no sistema de arquivos do Linux, e não em /mnt/c, evitando a camada de tradução do disco do Windows nas medições.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36195" y="1242565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13865" y="0"/>
            <a:ext cx="2541169" cy="2476071"/>
          </a:xfrm>
          <a:custGeom>
            <a:avLst/>
            <a:gdLst/>
            <a:ahLst/>
            <a:cxnLst/>
            <a:rect r="r" b="b" t="t" l="l"/>
            <a:pathLst>
              <a:path h="2476071" w="2541169">
                <a:moveTo>
                  <a:pt x="0" y="0"/>
                </a:moveTo>
                <a:lnTo>
                  <a:pt x="2541169" y="0"/>
                </a:lnTo>
                <a:lnTo>
                  <a:pt x="2541169" y="2476071"/>
                </a:lnTo>
                <a:lnTo>
                  <a:pt x="0" y="2476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0996" y="2100279"/>
            <a:ext cx="8467804" cy="6824368"/>
          </a:xfrm>
          <a:custGeom>
            <a:avLst/>
            <a:gdLst/>
            <a:ahLst/>
            <a:cxnLst/>
            <a:rect r="r" b="b" t="t" l="l"/>
            <a:pathLst>
              <a:path h="6824368" w="8467804">
                <a:moveTo>
                  <a:pt x="0" y="0"/>
                </a:moveTo>
                <a:lnTo>
                  <a:pt x="8467804" y="0"/>
                </a:lnTo>
                <a:lnTo>
                  <a:pt x="8467804" y="6824368"/>
                </a:lnTo>
                <a:lnTo>
                  <a:pt x="0" y="68243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338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84918" y="784058"/>
            <a:ext cx="13380616" cy="106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6"/>
              </a:lnSpc>
              <a:spcBef>
                <a:spcPct val="0"/>
              </a:spcBef>
            </a:pPr>
            <a:r>
              <a:rPr lang="en-US" sz="7996">
                <a:solidFill>
                  <a:srgbClr val="5555AB"/>
                </a:solidFill>
                <a:latin typeface="Anton"/>
                <a:ea typeface="Anton"/>
                <a:cs typeface="Anton"/>
                <a:sym typeface="Anton"/>
              </a:rPr>
              <a:t> MEMÓRIA E CACHE DE PÁGINAS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75226" y="1870661"/>
            <a:ext cx="7682717" cy="6833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</a:p>
          <a:p>
            <a:pPr algn="l">
              <a:lnSpc>
                <a:spcPts val="3644"/>
              </a:lnSpc>
            </a:pPr>
            <a:r>
              <a:rPr lang="en-US" sz="3063" b="true">
                <a:solidFill>
                  <a:srgbClr val="484FA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 MemFree</a:t>
            </a:r>
            <a:r>
              <a:rPr lang="en-US" sz="3063" b="true">
                <a:solidFill>
                  <a:srgbClr val="484FA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representa a memória totalmente sem uso, enquanto o MemAvailable estima quanto pode ser entregue a novos processos sem recorrer ao swap, incluindo a parte do cache que o kernel consegue liberar. O cache de páginas mantém em RAM arquivos lidos do disco, acelerando leituras seguintes, e por isso não é memória desperdiçada. No servidor, isso justifica comparar a primeira e a segunda leitura do corpus e do índice nos experimentos de leitura convencional e mmap.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61978" y="-209336"/>
            <a:ext cx="2541169" cy="2476071"/>
          </a:xfrm>
          <a:custGeom>
            <a:avLst/>
            <a:gdLst/>
            <a:ahLst/>
            <a:cxnLst/>
            <a:rect r="r" b="b" t="t" l="l"/>
            <a:pathLst>
              <a:path h="2476071" w="2541169">
                <a:moveTo>
                  <a:pt x="0" y="0"/>
                </a:moveTo>
                <a:lnTo>
                  <a:pt x="2541169" y="0"/>
                </a:lnTo>
                <a:lnTo>
                  <a:pt x="2541169" y="2476072"/>
                </a:lnTo>
                <a:lnTo>
                  <a:pt x="0" y="24760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79607" y="6942837"/>
            <a:ext cx="2495582" cy="3344163"/>
          </a:xfrm>
          <a:custGeom>
            <a:avLst/>
            <a:gdLst/>
            <a:ahLst/>
            <a:cxnLst/>
            <a:rect r="r" b="b" t="t" l="l"/>
            <a:pathLst>
              <a:path h="3344163" w="2495582">
                <a:moveTo>
                  <a:pt x="0" y="0"/>
                </a:moveTo>
                <a:lnTo>
                  <a:pt x="2495581" y="0"/>
                </a:lnTo>
                <a:lnTo>
                  <a:pt x="2495581" y="3344163"/>
                </a:lnTo>
                <a:lnTo>
                  <a:pt x="0" y="334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370345" y="661810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8" y="0"/>
                </a:moveTo>
                <a:lnTo>
                  <a:pt x="0" y="0"/>
                </a:lnTo>
                <a:lnTo>
                  <a:pt x="0" y="1187583"/>
                </a:lnTo>
                <a:lnTo>
                  <a:pt x="734258" y="1187583"/>
                </a:lnTo>
                <a:lnTo>
                  <a:pt x="73425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917589"/>
            <a:ext cx="21101942" cy="10738822"/>
          </a:xfrm>
          <a:custGeom>
            <a:avLst/>
            <a:gdLst/>
            <a:ahLst/>
            <a:cxnLst/>
            <a:rect r="r" b="b" t="t" l="l"/>
            <a:pathLst>
              <a:path h="10738822" w="21101942">
                <a:moveTo>
                  <a:pt x="0" y="0"/>
                </a:moveTo>
                <a:lnTo>
                  <a:pt x="21101942" y="0"/>
                </a:lnTo>
                <a:lnTo>
                  <a:pt x="21101942" y="10738822"/>
                </a:lnTo>
                <a:lnTo>
                  <a:pt x="0" y="107388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19532" y="574722"/>
            <a:ext cx="12898406" cy="106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6"/>
              </a:lnSpc>
              <a:spcBef>
                <a:spcPct val="0"/>
              </a:spcBef>
            </a:pPr>
            <a:r>
              <a:rPr lang="en-US" sz="7996">
                <a:solidFill>
                  <a:srgbClr val="5555AB"/>
                </a:solidFill>
                <a:latin typeface="Anton"/>
                <a:ea typeface="Anton"/>
                <a:cs typeface="Anton"/>
                <a:sym typeface="Anton"/>
              </a:rPr>
              <a:t>LINHA DE BASE E LIMITAÇÕES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2563" y="1334872"/>
            <a:ext cx="16442874" cy="317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</a:p>
          <a:p>
            <a:pPr algn="l">
              <a:lnSpc>
                <a:spcPts val="3644"/>
              </a:lnSpc>
            </a:pPr>
            <a:r>
              <a:rPr lang="en-US" sz="3063" b="true">
                <a:solidFill>
                  <a:srgbClr val="484FA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</a:t>
            </a:r>
            <a:r>
              <a:rPr lang="en-US" sz="3063" b="true">
                <a:solidFill>
                  <a:srgbClr val="484FA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repouso, o ambiente</a:t>
            </a:r>
            <a:r>
              <a:rPr lang="en-US" sz="3063" b="true">
                <a:solidFill>
                  <a:srgbClr val="484FA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apresentou CPU cerca de 99,6% ociosa, nenhuma atividade de swap, iowait próximo de zero e aproximadamente 3,4 GB de memória livre, valores utilizados como referência para os experimentos. Como limitações, a RAM visível ao WSL2 (3,8 GiB) é menor que a registrada na AV1 (6,1 GiB), o swap é de apenas 1 GiB, não há GPU e a execução ocorre sobre um hipervisor, o que exige limitar o corpus no experimento de pressão de memória.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36195" y="1242565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13865" y="-209336"/>
            <a:ext cx="2541169" cy="2476071"/>
          </a:xfrm>
          <a:custGeom>
            <a:avLst/>
            <a:gdLst/>
            <a:ahLst/>
            <a:cxnLst/>
            <a:rect r="r" b="b" t="t" l="l"/>
            <a:pathLst>
              <a:path h="2476071" w="2541169">
                <a:moveTo>
                  <a:pt x="0" y="0"/>
                </a:moveTo>
                <a:lnTo>
                  <a:pt x="2541169" y="0"/>
                </a:lnTo>
                <a:lnTo>
                  <a:pt x="2541169" y="2476072"/>
                </a:lnTo>
                <a:lnTo>
                  <a:pt x="0" y="2476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1575" y="1028700"/>
            <a:ext cx="17684850" cy="8999857"/>
          </a:xfrm>
          <a:custGeom>
            <a:avLst/>
            <a:gdLst/>
            <a:ahLst/>
            <a:cxnLst/>
            <a:rect r="r" b="b" t="t" l="l"/>
            <a:pathLst>
              <a:path h="8999857" w="17684850">
                <a:moveTo>
                  <a:pt x="0" y="0"/>
                </a:moveTo>
                <a:lnTo>
                  <a:pt x="17684850" y="0"/>
                </a:lnTo>
                <a:lnTo>
                  <a:pt x="17684850" y="8999857"/>
                </a:lnTo>
                <a:lnTo>
                  <a:pt x="0" y="89998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77894" y="310060"/>
            <a:ext cx="6403842" cy="51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  <a:spcBef>
                <a:spcPct val="0"/>
              </a:spcBef>
            </a:pPr>
            <a:r>
              <a:rPr lang="en-US" sz="3970">
                <a:solidFill>
                  <a:srgbClr val="5555AB"/>
                </a:solidFill>
                <a:latin typeface="Anton"/>
                <a:ea typeface="Anton"/>
                <a:cs typeface="Anton"/>
                <a:sym typeface="Anton"/>
              </a:rPr>
              <a:t>MELHOR VISUALIZAÇÃO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3143158" y="6042776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9" y="0"/>
                </a:moveTo>
                <a:lnTo>
                  <a:pt x="0" y="0"/>
                </a:lnTo>
                <a:lnTo>
                  <a:pt x="0" y="1187583"/>
                </a:lnTo>
                <a:lnTo>
                  <a:pt x="734259" y="1187583"/>
                </a:lnTo>
                <a:lnTo>
                  <a:pt x="73425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8056" y="4450801"/>
            <a:ext cx="15861244" cy="102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96"/>
              </a:lnSpc>
              <a:spcBef>
                <a:spcPct val="0"/>
              </a:spcBef>
            </a:pPr>
            <a:r>
              <a:rPr lang="en-US" sz="7796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3 - VÊNISSON CARDOSO DOS SANTOS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25074" y="6815247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9" y="0"/>
                </a:moveTo>
                <a:lnTo>
                  <a:pt x="0" y="0"/>
                </a:lnTo>
                <a:lnTo>
                  <a:pt x="0" y="1187583"/>
                </a:lnTo>
                <a:lnTo>
                  <a:pt x="734259" y="1187583"/>
                </a:lnTo>
                <a:lnTo>
                  <a:pt x="73425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35249" y="3120956"/>
            <a:ext cx="13640991" cy="200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6"/>
              </a:lnSpc>
            </a:pPr>
            <a:r>
              <a:rPr lang="en-US" sz="779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OBJETIVO:</a:t>
            </a:r>
          </a:p>
          <a:p>
            <a:pPr algn="ctr">
              <a:lnSpc>
                <a:spcPts val="7796"/>
              </a:lnSpc>
              <a:spcBef>
                <a:spcPct val="0"/>
              </a:spcBef>
            </a:pPr>
            <a:r>
              <a:rPr lang="en-US" sz="779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FILA DE REQUISIÇÕES + CONCORRÊNCIA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54511"/>
            <a:ext cx="6564652" cy="6177979"/>
          </a:xfrm>
          <a:custGeom>
            <a:avLst/>
            <a:gdLst/>
            <a:ahLst/>
            <a:cxnLst/>
            <a:rect r="r" b="b" t="t" l="l"/>
            <a:pathLst>
              <a:path h="6177979" w="6564652">
                <a:moveTo>
                  <a:pt x="0" y="0"/>
                </a:moveTo>
                <a:lnTo>
                  <a:pt x="6564652" y="0"/>
                </a:lnTo>
                <a:lnTo>
                  <a:pt x="6564652" y="6177978"/>
                </a:lnTo>
                <a:lnTo>
                  <a:pt x="0" y="61779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32794" y="2470304"/>
            <a:ext cx="6730624" cy="3612243"/>
          </a:xfrm>
          <a:custGeom>
            <a:avLst/>
            <a:gdLst/>
            <a:ahLst/>
            <a:cxnLst/>
            <a:rect r="r" b="b" t="t" l="l"/>
            <a:pathLst>
              <a:path h="3612243" w="6730624">
                <a:moveTo>
                  <a:pt x="0" y="0"/>
                </a:moveTo>
                <a:lnTo>
                  <a:pt x="6730625" y="0"/>
                </a:lnTo>
                <a:lnTo>
                  <a:pt x="6730625" y="3612243"/>
                </a:lnTo>
                <a:lnTo>
                  <a:pt x="0" y="36122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09916" y="6530222"/>
            <a:ext cx="8880699" cy="2492162"/>
          </a:xfrm>
          <a:custGeom>
            <a:avLst/>
            <a:gdLst/>
            <a:ahLst/>
            <a:cxnLst/>
            <a:rect r="r" b="b" t="t" l="l"/>
            <a:pathLst>
              <a:path h="2492162" w="8880699">
                <a:moveTo>
                  <a:pt x="0" y="0"/>
                </a:moveTo>
                <a:lnTo>
                  <a:pt x="8880699" y="0"/>
                </a:lnTo>
                <a:lnTo>
                  <a:pt x="8880699" y="2492162"/>
                </a:lnTo>
                <a:lnTo>
                  <a:pt x="0" y="249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01753" y="995072"/>
            <a:ext cx="13915281" cy="102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96"/>
              </a:lnSpc>
              <a:spcBef>
                <a:spcPct val="0"/>
              </a:spcBef>
            </a:pPr>
            <a:r>
              <a:rPr lang="en-US" sz="779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FILA DE REQUISIÇÕES E SINCRONIZAÇÃO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5251" y="8798687"/>
            <a:ext cx="7704142" cy="57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Execução demo</a:t>
            </a:r>
            <a:r>
              <a:rPr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nstrativa: 12 consultas concluídas, sem perdas ou duplicações.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8036" y="2755934"/>
            <a:ext cx="8918194" cy="5350916"/>
          </a:xfrm>
          <a:custGeom>
            <a:avLst/>
            <a:gdLst/>
            <a:ahLst/>
            <a:cxnLst/>
            <a:rect r="r" b="b" t="t" l="l"/>
            <a:pathLst>
              <a:path h="5350916" w="8918194">
                <a:moveTo>
                  <a:pt x="0" y="0"/>
                </a:moveTo>
                <a:lnTo>
                  <a:pt x="8918194" y="0"/>
                </a:lnTo>
                <a:lnTo>
                  <a:pt x="8918194" y="5350916"/>
                </a:lnTo>
                <a:lnTo>
                  <a:pt x="0" y="5350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43433" y="2755934"/>
            <a:ext cx="6434403" cy="3258448"/>
          </a:xfrm>
          <a:custGeom>
            <a:avLst/>
            <a:gdLst/>
            <a:ahLst/>
            <a:cxnLst/>
            <a:rect r="r" b="b" t="t" l="l"/>
            <a:pathLst>
              <a:path h="3258448" w="6434403">
                <a:moveTo>
                  <a:pt x="0" y="0"/>
                </a:moveTo>
                <a:lnTo>
                  <a:pt x="6434403" y="0"/>
                </a:lnTo>
                <a:lnTo>
                  <a:pt x="6434403" y="3258448"/>
                </a:lnTo>
                <a:lnTo>
                  <a:pt x="0" y="3258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38389" y="771764"/>
            <a:ext cx="11211223" cy="102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96"/>
              </a:lnSpc>
              <a:spcBef>
                <a:spcPct val="0"/>
              </a:spcBef>
            </a:pPr>
            <a:r>
              <a:rPr lang="en-US" sz="779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RESULTADOS DE CONCORRÊNCIA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38389" y="1741317"/>
            <a:ext cx="1121122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 produtores · 12 co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nsultas · fila com 3 posições · 3 repetições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24897" y="6766561"/>
            <a:ext cx="6434403" cy="249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Mais consumidores → maior vazão e me</a:t>
            </a: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nor espera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12 consultas concluídas por execução, sem perdas ou duplicações.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Processamento simulado: espera de 0,2 s por consulta.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2726" y="2928088"/>
            <a:ext cx="8115300" cy="4619769"/>
          </a:xfrm>
          <a:custGeom>
            <a:avLst/>
            <a:gdLst/>
            <a:ahLst/>
            <a:cxnLst/>
            <a:rect r="r" b="b" t="t" l="l"/>
            <a:pathLst>
              <a:path h="4619769" w="8115300">
                <a:moveTo>
                  <a:pt x="0" y="0"/>
                </a:moveTo>
                <a:lnTo>
                  <a:pt x="8115300" y="0"/>
                </a:lnTo>
                <a:lnTo>
                  <a:pt x="8115300" y="4619769"/>
                </a:lnTo>
                <a:lnTo>
                  <a:pt x="0" y="461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17040" y="2437916"/>
            <a:ext cx="5298235" cy="5600112"/>
          </a:xfrm>
          <a:custGeom>
            <a:avLst/>
            <a:gdLst/>
            <a:ahLst/>
            <a:cxnLst/>
            <a:rect r="r" b="b" t="t" l="l"/>
            <a:pathLst>
              <a:path h="5600112" w="5298235">
                <a:moveTo>
                  <a:pt x="0" y="0"/>
                </a:moveTo>
                <a:lnTo>
                  <a:pt x="5298235" y="0"/>
                </a:lnTo>
                <a:lnTo>
                  <a:pt x="5298235" y="5600112"/>
                </a:lnTo>
                <a:lnTo>
                  <a:pt x="0" y="56001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19489" y="8219003"/>
            <a:ext cx="7093337" cy="1964015"/>
          </a:xfrm>
          <a:custGeom>
            <a:avLst/>
            <a:gdLst/>
            <a:ahLst/>
            <a:cxnLst/>
            <a:rect r="r" b="b" t="t" l="l"/>
            <a:pathLst>
              <a:path h="1964015" w="7093337">
                <a:moveTo>
                  <a:pt x="0" y="0"/>
                </a:moveTo>
                <a:lnTo>
                  <a:pt x="7093337" y="0"/>
                </a:lnTo>
                <a:lnTo>
                  <a:pt x="7093337" y="1964015"/>
                </a:lnTo>
                <a:lnTo>
                  <a:pt x="0" y="19640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8147" y="7855098"/>
            <a:ext cx="6847426" cy="2062868"/>
          </a:xfrm>
          <a:custGeom>
            <a:avLst/>
            <a:gdLst/>
            <a:ahLst/>
            <a:cxnLst/>
            <a:rect r="r" b="b" t="t" l="l"/>
            <a:pathLst>
              <a:path h="2062868" w="6847426">
                <a:moveTo>
                  <a:pt x="0" y="0"/>
                </a:moveTo>
                <a:lnTo>
                  <a:pt x="6847426" y="0"/>
                </a:lnTo>
                <a:lnTo>
                  <a:pt x="6847426" y="2062868"/>
                </a:lnTo>
                <a:lnTo>
                  <a:pt x="0" y="2062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38389" y="771764"/>
            <a:ext cx="11710243" cy="102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96"/>
              </a:lnSpc>
              <a:spcBef>
                <a:spcPct val="0"/>
              </a:spcBef>
            </a:pPr>
            <a:r>
              <a:rPr lang="en-US" sz="779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FALHA CONTROLADA E CORREÇÃO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38389" y="1741317"/>
            <a:ext cx="1121122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Buffer 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limitado a 3 posições · 12 consultas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661571" y="8663503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8" y="0"/>
                </a:moveTo>
                <a:lnTo>
                  <a:pt x="0" y="0"/>
                </a:lnTo>
                <a:lnTo>
                  <a:pt x="0" y="1187583"/>
                </a:lnTo>
                <a:lnTo>
                  <a:pt x="734258" y="1187583"/>
                </a:lnTo>
                <a:lnTo>
                  <a:pt x="73425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25141" y="4382525"/>
            <a:ext cx="13637717" cy="102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96"/>
              </a:lnSpc>
              <a:spcBef>
                <a:spcPct val="0"/>
              </a:spcBef>
            </a:pPr>
            <a:r>
              <a:rPr lang="en-US" sz="7796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4 -  RAUANY INGRID SANTOS DE JESUS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25074" y="6815247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9" y="0"/>
                </a:moveTo>
                <a:lnTo>
                  <a:pt x="0" y="0"/>
                </a:lnTo>
                <a:lnTo>
                  <a:pt x="0" y="1187583"/>
                </a:lnTo>
                <a:lnTo>
                  <a:pt x="734259" y="1187583"/>
                </a:lnTo>
                <a:lnTo>
                  <a:pt x="73425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26506" y="3418379"/>
            <a:ext cx="13234988" cy="1725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47"/>
              </a:lnSpc>
              <a:spcBef>
                <a:spcPct val="0"/>
              </a:spcBef>
            </a:pPr>
            <a:r>
              <a:rPr lang="en-US" sz="779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RECUPERAÇÃO E RESPOSTA/GERAÇÃO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42" y="7409040"/>
            <a:ext cx="296513" cy="2508933"/>
          </a:xfrm>
          <a:custGeom>
            <a:avLst/>
            <a:gdLst/>
            <a:ahLst/>
            <a:cxnLst/>
            <a:rect r="r" b="b" t="t" l="l"/>
            <a:pathLst>
              <a:path h="2508933" w="296513">
                <a:moveTo>
                  <a:pt x="0" y="0"/>
                </a:moveTo>
                <a:lnTo>
                  <a:pt x="296514" y="0"/>
                </a:lnTo>
                <a:lnTo>
                  <a:pt x="296514" y="2508933"/>
                </a:lnTo>
                <a:lnTo>
                  <a:pt x="0" y="2508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884" t="0" r="-288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1560" y="798195"/>
            <a:ext cx="16184880" cy="84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sz="5999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RECUPERAÇÃ</a:t>
            </a:r>
            <a:r>
              <a:rPr lang="en-US" sz="5999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O DE INFORMAÇÕES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1560" y="1301750"/>
            <a:ext cx="16137406" cy="137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Objetivo: localizar trechos do conteúdo previamente indexado e montar um contexto para a etapa de resposta.</a:t>
            </a:r>
          </a:p>
          <a:p>
            <a:pPr algn="l">
              <a:lnSpc>
                <a:spcPts val="3499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656332"/>
            <a:ext cx="7680960" cy="5029200"/>
            <a:chOff x="0" y="0"/>
            <a:chExt cx="10241280" cy="6705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41280" cy="6705600"/>
            </a:xfrm>
            <a:custGeom>
              <a:avLst/>
              <a:gdLst/>
              <a:ahLst/>
              <a:cxnLst/>
              <a:rect r="r" b="b" t="t" l="l"/>
              <a:pathLst>
                <a:path h="67056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705600"/>
                  </a:lnTo>
                  <a:lnTo>
                    <a:pt x="0" y="6705600"/>
                  </a:lnTo>
                  <a:close/>
                </a:path>
              </a:pathLst>
            </a:custGeom>
            <a:solidFill>
              <a:srgbClr val="131317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49617" y="3204210"/>
            <a:ext cx="658368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spc="150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Etapas do processo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9034" y="3792855"/>
            <a:ext cx="7084846" cy="37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11"/>
              </a:lnSpc>
              <a:buAutoNum type="arabicPeriod" startAt="1"/>
            </a:pPr>
            <a:r>
              <a:rPr lang="en-US" sz="24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Receber a consulta do usuário.</a:t>
            </a:r>
          </a:p>
          <a:p>
            <a:pPr algn="just" marL="518160" indent="-259080" lvl="1">
              <a:lnSpc>
                <a:spcPts val="3311"/>
              </a:lnSpc>
              <a:buAutoNum type="arabicPeriod" startAt="1"/>
            </a:pPr>
            <a:r>
              <a:rPr lang="en-US" sz="24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Gerar um vetor determinístico para representar o texto.</a:t>
            </a:r>
          </a:p>
          <a:p>
            <a:pPr algn="just" marL="518160" indent="-259080" lvl="1">
              <a:lnSpc>
                <a:spcPts val="3311"/>
              </a:lnSpc>
              <a:buAutoNum type="arabicPeriod" startAt="1"/>
            </a:pPr>
            <a:r>
              <a:rPr lang="en-US" sz="24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Comparar o vetor da consulta com os vetores armazenados</a:t>
            </a:r>
            <a:r>
              <a:rPr lang="en-US" sz="24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, utilizando similaridade do cosseno.</a:t>
            </a:r>
          </a:p>
          <a:p>
            <a:pPr algn="just" marL="518160" indent="-259080" lvl="1">
              <a:lnSpc>
                <a:spcPts val="3311"/>
              </a:lnSpc>
              <a:buAutoNum type="arabicPeriod" startAt="1"/>
            </a:pPr>
            <a:r>
              <a:rPr lang="en-US" sz="24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Ordenar os trechos por pontuação e selecionar os mais próximos.</a:t>
            </a:r>
          </a:p>
          <a:p>
            <a:pPr algn="just" marL="518160" indent="-259080" lvl="1">
              <a:lnSpc>
                <a:spcPts val="3311"/>
              </a:lnSpc>
              <a:buAutoNum type="arabicPeriod" startAt="1"/>
            </a:pPr>
            <a:r>
              <a:rPr lang="en-US" sz="24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Montar o contexto com limite de 2.000 caracteres.</a:t>
            </a:r>
          </a:p>
          <a:p>
            <a:pPr algn="just">
              <a:lnSpc>
                <a:spcPts val="3311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9921240" y="2674620"/>
            <a:ext cx="7680960" cy="5029200"/>
            <a:chOff x="0" y="0"/>
            <a:chExt cx="10241280" cy="6705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1280" cy="6705600"/>
            </a:xfrm>
            <a:custGeom>
              <a:avLst/>
              <a:gdLst/>
              <a:ahLst/>
              <a:cxnLst/>
              <a:rect r="r" b="b" t="t" l="l"/>
              <a:pathLst>
                <a:path h="67056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705600"/>
                  </a:lnTo>
                  <a:lnTo>
                    <a:pt x="0" y="6705600"/>
                  </a:lnTo>
                  <a:close/>
                </a:path>
              </a:pathLst>
            </a:custGeom>
            <a:solidFill>
              <a:srgbClr val="131317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469880" y="3204210"/>
            <a:ext cx="658368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spc="150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Parâmetros principais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69880" y="3792855"/>
            <a:ext cx="5806440" cy="341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</a:p>
          <a:p>
            <a:pPr algn="l">
              <a:lnSpc>
                <a:spcPts val="3383"/>
              </a:lnSpc>
            </a:pPr>
            <a:r>
              <a:rPr lang="en-US" sz="2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Seleção padrão: top_k = 4 trechos.</a:t>
            </a:r>
          </a:p>
          <a:p>
            <a:pPr algn="l">
              <a:lnSpc>
                <a:spcPts val="3383"/>
              </a:lnSpc>
            </a:pPr>
          </a:p>
          <a:p>
            <a:pPr algn="l">
              <a:lnSpc>
                <a:spcPts val="3383"/>
              </a:lnSpc>
            </a:pPr>
            <a:r>
              <a:rPr lang="en-US" sz="2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Dimensão dos vetores: 128.</a:t>
            </a:r>
          </a:p>
          <a:p>
            <a:pPr algn="l">
              <a:lnSpc>
                <a:spcPts val="3383"/>
              </a:lnSpc>
            </a:pPr>
          </a:p>
          <a:p>
            <a:pPr algn="l">
              <a:lnSpc>
                <a:spcPts val="3383"/>
              </a:lnSpc>
            </a:pPr>
            <a:r>
              <a:rPr lang="en-US" sz="2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Índice carregado em memória para reutilização nas consultas.</a:t>
            </a:r>
          </a:p>
          <a:p>
            <a:pPr algn="l">
              <a:lnSpc>
                <a:spcPts val="338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99034" y="7908492"/>
            <a:ext cx="1618488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Observação: os vetores são determinísticos, mas não representam embeddings semânticos. Portanto, a pontuação não comprova que os trechos selecionados sejam semanticamente relevantes.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42" y="7409040"/>
            <a:ext cx="296513" cy="2508933"/>
          </a:xfrm>
          <a:custGeom>
            <a:avLst/>
            <a:gdLst/>
            <a:ahLst/>
            <a:cxnLst/>
            <a:rect r="r" b="b" t="t" l="l"/>
            <a:pathLst>
              <a:path h="2508933" w="296513">
                <a:moveTo>
                  <a:pt x="0" y="0"/>
                </a:moveTo>
                <a:lnTo>
                  <a:pt x="296514" y="0"/>
                </a:lnTo>
                <a:lnTo>
                  <a:pt x="296514" y="2508933"/>
                </a:lnTo>
                <a:lnTo>
                  <a:pt x="0" y="2508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884" t="0" r="-288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1560" y="798195"/>
            <a:ext cx="16184880" cy="84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sz="5999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GERAÇÃO DA RESPOSTA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74420" y="2372489"/>
            <a:ext cx="16500274" cy="2514600"/>
            <a:chOff x="0" y="0"/>
            <a:chExt cx="22000365" cy="33528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1579840" cy="3352800"/>
              <a:chOff x="0" y="0"/>
              <a:chExt cx="21579840" cy="335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579839" cy="3352800"/>
              </a:xfrm>
              <a:custGeom>
                <a:avLst/>
                <a:gdLst/>
                <a:ahLst/>
                <a:cxnLst/>
                <a:rect r="r" b="b" t="t" l="l"/>
                <a:pathLst>
                  <a:path h="3352800" w="21579839">
                    <a:moveTo>
                      <a:pt x="0" y="0"/>
                    </a:moveTo>
                    <a:lnTo>
                      <a:pt x="21579839" y="0"/>
                    </a:lnTo>
                    <a:lnTo>
                      <a:pt x="21579839" y="3352800"/>
                    </a:lnTo>
                    <a:lnTo>
                      <a:pt x="0" y="3352800"/>
                    </a:lnTo>
                    <a:close/>
                  </a:path>
                </a:pathLst>
              </a:custGeom>
              <a:solidFill>
                <a:srgbClr val="131317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420525" y="146262"/>
              <a:ext cx="21579840" cy="2768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11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F0F0F3"/>
                  </a:solidFill>
                  <a:latin typeface="Anton"/>
                  <a:ea typeface="Anton"/>
                  <a:cs typeface="Anton"/>
                  <a:sym typeface="Anton"/>
                </a:rPr>
                <a:t>Como a implementação funciona</a:t>
              </a:r>
            </a:p>
            <a:p>
              <a:pPr algn="l" marL="518160" indent="-259080" lvl="1">
                <a:lnSpc>
                  <a:spcPts val="3311"/>
                </a:lnSpc>
                <a:spcBef>
                  <a:spcPct val="0"/>
                </a:spcBef>
                <a:buAutoNum type="arabicPeriod" startAt="1"/>
              </a:pPr>
              <a:r>
                <a:rPr lang="en-US" sz="2400" strike="noStrike" u="none">
                  <a:solidFill>
                    <a:srgbClr val="F0F0F3"/>
                  </a:solidFill>
                  <a:latin typeface="Anton"/>
                  <a:ea typeface="Anton"/>
                  <a:cs typeface="Anton"/>
                  <a:sym typeface="Anton"/>
                </a:rPr>
                <a:t>Recebe a consulta e executa a recuperação.</a:t>
              </a:r>
            </a:p>
            <a:p>
              <a:pPr algn="l" marL="518160" indent="-259080" lvl="1">
                <a:lnSpc>
                  <a:spcPts val="3311"/>
                </a:lnSpc>
                <a:spcBef>
                  <a:spcPct val="0"/>
                </a:spcBef>
                <a:buAutoNum type="arabicPeriod" startAt="1"/>
              </a:pPr>
              <a:r>
                <a:rPr lang="en-US" sz="2400" strike="noStrike" u="none">
                  <a:solidFill>
                    <a:srgbClr val="F0F0F3"/>
                  </a:solidFill>
                  <a:latin typeface="Anton"/>
                  <a:ea typeface="Anton"/>
                  <a:cs typeface="Anton"/>
                  <a:sym typeface="Anton"/>
                </a:rPr>
                <a:t>Monta o contexto com os trechos selecionados.</a:t>
              </a:r>
            </a:p>
            <a:p>
              <a:pPr algn="l" marL="518160" indent="-259080" lvl="1">
                <a:lnSpc>
                  <a:spcPts val="3311"/>
                </a:lnSpc>
                <a:spcBef>
                  <a:spcPct val="0"/>
                </a:spcBef>
                <a:buAutoNum type="arabicPeriod" startAt="1"/>
              </a:pPr>
              <a:r>
                <a:rPr lang="en-US" sz="2400" strike="noStrike" u="none">
                  <a:solidFill>
                    <a:srgbClr val="F0F0F3"/>
                  </a:solidFill>
                  <a:latin typeface="Anton"/>
                  <a:ea typeface="Anton"/>
                  <a:cs typeface="Anton"/>
                  <a:sym typeface="Anton"/>
                </a:rPr>
                <a:t>Simula o custo computacional da geração, com tempo proporcional ao tamanho do contexto.</a:t>
              </a:r>
            </a:p>
            <a:p>
              <a:pPr algn="l" marL="518160" indent="-259080" lvl="1">
                <a:lnSpc>
                  <a:spcPts val="3311"/>
                </a:lnSpc>
                <a:spcBef>
                  <a:spcPct val="0"/>
                </a:spcBef>
                <a:buAutoNum type="arabicPeriod" startAt="1"/>
              </a:pPr>
              <a:r>
                <a:rPr lang="en-US" sz="2400" strike="noStrike" u="none">
                  <a:solidFill>
                    <a:srgbClr val="F0F0F3"/>
                  </a:solidFill>
                  <a:latin typeface="Anton"/>
                  <a:ea typeface="Anton"/>
                  <a:cs typeface="Anton"/>
                  <a:sym typeface="Anton"/>
                </a:rPr>
                <a:t>Retorna uma resposta simulada e registra as métricas da chamada.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74420" y="8510270"/>
            <a:ext cx="16184880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Importante: nesta etapa, a geração é simulada por atraso programado. Os tempos medidos não representam o desempenho de inferência real do modelo Gemma.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74420" y="5182364"/>
            <a:ext cx="16500274" cy="2933383"/>
            <a:chOff x="0" y="0"/>
            <a:chExt cx="22000365" cy="391117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253577"/>
              <a:ext cx="21579840" cy="3657600"/>
              <a:chOff x="0" y="0"/>
              <a:chExt cx="21579840" cy="36576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1579839" cy="3657600"/>
              </a:xfrm>
              <a:custGeom>
                <a:avLst/>
                <a:gdLst/>
                <a:ahLst/>
                <a:cxnLst/>
                <a:rect r="r" b="b" t="t" l="l"/>
                <a:pathLst>
                  <a:path h="3657600" w="21579839">
                    <a:moveTo>
                      <a:pt x="0" y="0"/>
                    </a:moveTo>
                    <a:lnTo>
                      <a:pt x="21579839" y="0"/>
                    </a:lnTo>
                    <a:lnTo>
                      <a:pt x="21579839" y="3657600"/>
                    </a:lnTo>
                    <a:lnTo>
                      <a:pt x="0" y="3657600"/>
                    </a:lnTo>
                    <a:close/>
                  </a:path>
                </a:pathLst>
              </a:custGeom>
              <a:solidFill>
                <a:srgbClr val="131317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420525" y="-47625"/>
              <a:ext cx="21579840" cy="38860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1"/>
                </a:lnSpc>
                <a:spcBef>
                  <a:spcPct val="0"/>
                </a:spcBef>
              </a:pPr>
            </a:p>
            <a:p>
              <a:pPr algn="l">
                <a:lnSpc>
                  <a:spcPts val="3311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F0F0F3"/>
                  </a:solidFill>
                  <a:latin typeface="Anton"/>
                  <a:ea typeface="Anton"/>
                  <a:cs typeface="Anton"/>
                  <a:sym typeface="Anton"/>
                </a:rPr>
                <a:t>Métricas registradas</a:t>
              </a:r>
            </a:p>
            <a:p>
              <a:pPr algn="l" marL="518160" indent="-259080" lvl="1">
                <a:lnSpc>
                  <a:spcPts val="3311"/>
                </a:lnSpc>
                <a:spcBef>
                  <a:spcPct val="0"/>
                </a:spcBef>
                <a:buAutoNum type="arabicPeriod" startAt="1"/>
              </a:pPr>
              <a:r>
                <a:rPr lang="en-US" sz="2400" strike="noStrike" u="none">
                  <a:solidFill>
                    <a:srgbClr val="F0F0F3"/>
                  </a:solidFill>
                  <a:latin typeface="Anton"/>
                  <a:ea typeface="Anton"/>
                  <a:cs typeface="Anton"/>
                  <a:sym typeface="Anton"/>
                </a:rPr>
                <a:t>Tempo de recuperação.</a:t>
              </a:r>
            </a:p>
            <a:p>
              <a:pPr algn="l" marL="518160" indent="-259080" lvl="1">
                <a:lnSpc>
                  <a:spcPts val="3311"/>
                </a:lnSpc>
                <a:spcBef>
                  <a:spcPct val="0"/>
                </a:spcBef>
                <a:buAutoNum type="arabicPeriod" startAt="1"/>
              </a:pPr>
              <a:r>
                <a:rPr lang="en-US" sz="2400" strike="noStrike" u="none">
                  <a:solidFill>
                    <a:srgbClr val="F0F0F3"/>
                  </a:solidFill>
                  <a:latin typeface="Anton"/>
                  <a:ea typeface="Anton"/>
                  <a:cs typeface="Anton"/>
                  <a:sym typeface="Anton"/>
                </a:rPr>
                <a:t>Tempo de geração.</a:t>
              </a:r>
            </a:p>
            <a:p>
              <a:pPr algn="l" marL="518160" indent="-259080" lvl="1">
                <a:lnSpc>
                  <a:spcPts val="3311"/>
                </a:lnSpc>
                <a:spcBef>
                  <a:spcPct val="0"/>
                </a:spcBef>
                <a:buAutoNum type="arabicPeriod" startAt="1"/>
              </a:pPr>
              <a:r>
                <a:rPr lang="en-US" sz="2400" strike="noStrike" u="none">
                  <a:solidFill>
                    <a:srgbClr val="F0F0F3"/>
                  </a:solidFill>
                  <a:latin typeface="Anton"/>
                  <a:ea typeface="Anton"/>
                  <a:cs typeface="Anton"/>
                  <a:sym typeface="Anton"/>
                </a:rPr>
                <a:t>Tempo total.</a:t>
              </a:r>
            </a:p>
            <a:p>
              <a:pPr algn="l" marL="518160" indent="-259080" lvl="1">
                <a:lnSpc>
                  <a:spcPts val="3311"/>
                </a:lnSpc>
                <a:spcBef>
                  <a:spcPct val="0"/>
                </a:spcBef>
                <a:buAutoNum type="arabicPeriod" startAt="1"/>
              </a:pPr>
              <a:r>
                <a:rPr lang="en-US" sz="2400" strike="noStrike" u="none">
                  <a:solidFill>
                    <a:srgbClr val="F0F0F3"/>
                  </a:solidFill>
                  <a:latin typeface="Anton"/>
                  <a:ea typeface="Anton"/>
                  <a:cs typeface="Anton"/>
                  <a:sym typeface="Anton"/>
                </a:rPr>
                <a:t>Quantidade de trechos recuperados.</a:t>
              </a:r>
            </a:p>
            <a:p>
              <a:pPr algn="l" marL="518160" indent="-259080" lvl="1">
                <a:lnSpc>
                  <a:spcPts val="3311"/>
                </a:lnSpc>
                <a:spcBef>
                  <a:spcPct val="0"/>
                </a:spcBef>
                <a:buAutoNum type="arabicPeriod" startAt="1"/>
              </a:pPr>
              <a:r>
                <a:rPr lang="en-US" sz="2400" strike="noStrike" u="none">
                  <a:solidFill>
                    <a:srgbClr val="F0F0F3"/>
                  </a:solidFill>
                  <a:latin typeface="Anton"/>
                  <a:ea typeface="Anton"/>
                  <a:cs typeface="Anton"/>
                  <a:sym typeface="Anton"/>
                </a:rPr>
                <a:t>Tamanho do contexto em bytes.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74420" y="1137861"/>
            <a:ext cx="16184880" cy="93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Após a recuperação, os trechos selecionados são reunidos em um contexto utilizado pela etapa de geração.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42" y="7409040"/>
            <a:ext cx="296513" cy="2508933"/>
          </a:xfrm>
          <a:custGeom>
            <a:avLst/>
            <a:gdLst/>
            <a:ahLst/>
            <a:cxnLst/>
            <a:rect r="r" b="b" t="t" l="l"/>
            <a:pathLst>
              <a:path h="2508933" w="296513">
                <a:moveTo>
                  <a:pt x="0" y="0"/>
                </a:moveTo>
                <a:lnTo>
                  <a:pt x="296514" y="0"/>
                </a:lnTo>
                <a:lnTo>
                  <a:pt x="296514" y="2508933"/>
                </a:lnTo>
                <a:lnTo>
                  <a:pt x="0" y="2508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884" t="0" r="-288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9567" y="66675"/>
            <a:ext cx="16184880" cy="167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6545"/>
              </a:lnSpc>
              <a:spcBef>
                <a:spcPct val="0"/>
              </a:spcBef>
            </a:pPr>
            <a:r>
              <a:rPr lang="en-US" sz="5999" strike="noStrike" u="none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RESULTADOS — RECUPERAÇÃO E GERAÇÃO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6174" y="6445559"/>
            <a:ext cx="16309733" cy="356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Interpretação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 tempo médio aumentou conforme o tamanho do corpus cresceu.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Aumentar a quantidade de trabalhadores não garantiu redução da latência individual.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Os resultados representam o pipeline implementado, com geração simulada, e não a inferência real de um LLM.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Limitação: os resultados são experimentais e devem ser interpretados considerando a variabilidade das medições e o uso de vetores determinísticos não semânticos.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755257" y="1740476"/>
            <a:ext cx="7680960" cy="4542282"/>
            <a:chOff x="0" y="0"/>
            <a:chExt cx="10241280" cy="60563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41280" cy="6056376"/>
            </a:xfrm>
            <a:custGeom>
              <a:avLst/>
              <a:gdLst/>
              <a:ahLst/>
              <a:cxnLst/>
              <a:rect r="r" b="b" t="t" l="l"/>
              <a:pathLst>
                <a:path h="605637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056376"/>
                  </a:lnTo>
                  <a:lnTo>
                    <a:pt x="0" y="6056376"/>
                  </a:lnTo>
                  <a:close/>
                </a:path>
              </a:pathLst>
            </a:custGeom>
            <a:solidFill>
              <a:srgbClr val="131317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76174" y="2288354"/>
            <a:ext cx="6583680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spc="150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METODOLOGIA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6174" y="2943674"/>
            <a:ext cx="7084846" cy="333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4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3 tamanhos de corpus: pequeno, médio e grande.</a:t>
            </a:r>
          </a:p>
          <a:p>
            <a:pPr algn="l">
              <a:lnSpc>
                <a:spcPts val="2688"/>
              </a:lnSpc>
            </a:pPr>
          </a:p>
          <a:p>
            <a:pPr algn="just">
              <a:lnSpc>
                <a:spcPts val="2688"/>
              </a:lnSpc>
            </a:pPr>
            <a:r>
              <a:rPr lang="en-US" sz="24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V</a:t>
            </a:r>
            <a:r>
              <a:rPr lang="en-US" sz="24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ariação de top_k: 2, 4 e 8 trechos.</a:t>
            </a:r>
          </a:p>
          <a:p>
            <a:pPr algn="just">
              <a:lnSpc>
                <a:spcPts val="2688"/>
              </a:lnSpc>
            </a:pPr>
          </a:p>
          <a:p>
            <a:pPr algn="just">
              <a:lnSpc>
                <a:spcPts val="2688"/>
              </a:lnSpc>
            </a:pPr>
            <a:r>
              <a:rPr lang="en-US" sz="24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Var</a:t>
            </a:r>
            <a:r>
              <a:rPr lang="en-US" sz="24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iação de concorrência: 1, 2 e 4 trabalhadores.</a:t>
            </a:r>
          </a:p>
          <a:p>
            <a:pPr algn="just">
              <a:lnSpc>
                <a:spcPts val="2688"/>
              </a:lnSpc>
            </a:pPr>
          </a:p>
          <a:p>
            <a:pPr algn="just">
              <a:lnSpc>
                <a:spcPts val="2688"/>
              </a:lnSpc>
            </a:pPr>
            <a:r>
              <a:rPr lang="en-US" sz="24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3 repetições por configuração.</a:t>
            </a:r>
          </a:p>
          <a:p>
            <a:pPr algn="just">
              <a:lnSpc>
                <a:spcPts val="2688"/>
              </a:lnSpc>
            </a:pPr>
          </a:p>
          <a:p>
            <a:pPr algn="just">
              <a:lnSpc>
                <a:spcPts val="2688"/>
              </a:lnSpc>
            </a:pPr>
            <a:r>
              <a:rPr lang="en-US" sz="24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45 execuções no total, com 60 consultas por execução.</a:t>
            </a:r>
          </a:p>
          <a:p>
            <a:pPr algn="just">
              <a:lnSpc>
                <a:spcPts val="2688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9647797" y="1758764"/>
            <a:ext cx="7680960" cy="4523994"/>
            <a:chOff x="0" y="0"/>
            <a:chExt cx="10241280" cy="60319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1280" cy="6031992"/>
            </a:xfrm>
            <a:custGeom>
              <a:avLst/>
              <a:gdLst/>
              <a:ahLst/>
              <a:cxnLst/>
              <a:rect r="r" b="b" t="t" l="l"/>
              <a:pathLst>
                <a:path h="60319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031992"/>
                  </a:lnTo>
                  <a:lnTo>
                    <a:pt x="0" y="6031992"/>
                  </a:lnTo>
                  <a:close/>
                </a:path>
              </a:pathLst>
            </a:custGeom>
            <a:solidFill>
              <a:srgbClr val="131317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196437" y="2288354"/>
            <a:ext cx="658368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spc="148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COMPARAÇÃO COM TOP_K=4 E 1 TRABALHADOR</a:t>
            </a:r>
          </a:p>
          <a:p>
            <a:pPr algn="l">
              <a:lnSpc>
                <a:spcPts val="30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196437" y="2651942"/>
            <a:ext cx="6789420" cy="384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</a:p>
          <a:p>
            <a:pPr algn="l">
              <a:lnSpc>
                <a:spcPts val="3383"/>
              </a:lnSpc>
            </a:pPr>
            <a:r>
              <a:rPr lang="en-US" sz="2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Corpus                 Te</a:t>
            </a:r>
            <a:r>
              <a:rPr lang="en-US" sz="2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mpo médio                 Mediana</a:t>
            </a:r>
          </a:p>
          <a:p>
            <a:pPr algn="l">
              <a:lnSpc>
                <a:spcPts val="3383"/>
              </a:lnSpc>
            </a:pPr>
          </a:p>
          <a:p>
            <a:pPr algn="l">
              <a:lnSpc>
                <a:spcPts val="3383"/>
              </a:lnSpc>
            </a:pPr>
            <a:r>
              <a:rPr lang="en-US" sz="2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Pequeno                  314,33 ms                  314,23 ms</a:t>
            </a:r>
          </a:p>
          <a:p>
            <a:pPr algn="l">
              <a:lnSpc>
                <a:spcPts val="3383"/>
              </a:lnSpc>
            </a:pPr>
          </a:p>
          <a:p>
            <a:pPr algn="l">
              <a:lnSpc>
                <a:spcPts val="3383"/>
              </a:lnSpc>
            </a:pPr>
            <a:r>
              <a:rPr lang="en-US" sz="2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Mé</a:t>
            </a:r>
            <a:r>
              <a:rPr lang="en-US" sz="2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dio                      322,14 ms                  321,90 ms</a:t>
            </a:r>
          </a:p>
          <a:p>
            <a:pPr algn="l">
              <a:lnSpc>
                <a:spcPts val="3383"/>
              </a:lnSpc>
            </a:pPr>
          </a:p>
          <a:p>
            <a:pPr algn="l">
              <a:lnSpc>
                <a:spcPts val="3383"/>
              </a:lnSpc>
            </a:pPr>
            <a:r>
              <a:rPr lang="en-US" sz="2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Grande                    346,85 ms                  345,94 ms</a:t>
            </a:r>
          </a:p>
          <a:p>
            <a:pPr algn="l">
              <a:lnSpc>
                <a:spcPts val="3383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3143158" y="6042776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9" y="0"/>
                </a:moveTo>
                <a:lnTo>
                  <a:pt x="0" y="0"/>
                </a:lnTo>
                <a:lnTo>
                  <a:pt x="0" y="1187583"/>
                </a:lnTo>
                <a:lnTo>
                  <a:pt x="734259" y="1187583"/>
                </a:lnTo>
                <a:lnTo>
                  <a:pt x="73425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83047" y="4524809"/>
            <a:ext cx="15861244" cy="102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96"/>
              </a:lnSpc>
              <a:spcBef>
                <a:spcPct val="0"/>
              </a:spcBef>
            </a:pPr>
            <a:r>
              <a:rPr lang="en-US" sz="7796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5 - FILIPE DE CARVALHO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42" y="7409040"/>
            <a:ext cx="296513" cy="2508933"/>
          </a:xfrm>
          <a:custGeom>
            <a:avLst/>
            <a:gdLst/>
            <a:ahLst/>
            <a:cxnLst/>
            <a:rect r="r" b="b" t="t" l="l"/>
            <a:pathLst>
              <a:path h="2508933" w="296513">
                <a:moveTo>
                  <a:pt x="0" y="0"/>
                </a:moveTo>
                <a:lnTo>
                  <a:pt x="296514" y="0"/>
                </a:lnTo>
                <a:lnTo>
                  <a:pt x="296514" y="2508933"/>
                </a:lnTo>
                <a:lnTo>
                  <a:pt x="0" y="2508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884" t="0" r="-288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1560" y="798195"/>
            <a:ext cx="16184880" cy="84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sz="5999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AMBIENTE E METODOLOGIA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1560" y="2000250"/>
            <a:ext cx="16184880" cy="38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36 execuções no mesmo ambiente, na mesma sessão.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51560" y="2834640"/>
            <a:ext cx="16184880" cy="914400"/>
            <a:chOff x="0" y="0"/>
            <a:chExt cx="2157984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31317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566160" y="2900997"/>
            <a:ext cx="10847467" cy="53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1899">
                <a:solidFill>
                  <a:srgbClr val="5D5DA8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899">
                <a:solidFill>
                  <a:srgbClr val="F0F0F3"/>
                </a:solidFill>
                <a:latin typeface="Courier New"/>
                <a:ea typeface="Courier New"/>
                <a:cs typeface="Courier New"/>
                <a:sym typeface="Courier New"/>
              </a:rPr>
              <a:t>python3 experimentos/scripts/c4_cache.py --consultas 200 --repeticoes 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51560" y="4069080"/>
            <a:ext cx="7680960" cy="4709160"/>
            <a:chOff x="0" y="0"/>
            <a:chExt cx="10241280" cy="6278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0" cy="6278880"/>
            </a:xfrm>
            <a:custGeom>
              <a:avLst/>
              <a:gdLst/>
              <a:ahLst/>
              <a:cxnLst/>
              <a:rect r="r" b="b" t="t" l="l"/>
              <a:pathLst>
                <a:path h="6278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278880"/>
                  </a:lnTo>
                  <a:lnTo>
                    <a:pt x="0" y="6278880"/>
                  </a:lnTo>
                  <a:close/>
                </a:path>
              </a:pathLst>
            </a:custGeom>
            <a:solidFill>
              <a:srgbClr val="13131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54480" y="4377690"/>
            <a:ext cx="6675120" cy="38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b="true" sz="2199" spc="29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AMBIENTE DE EXECUÇÃO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4480" y="5092065"/>
            <a:ext cx="201168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5A5A66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03320" y="5092065"/>
            <a:ext cx="452628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F0F0F3"/>
                </a:solidFill>
                <a:latin typeface="Calibri (MS)"/>
                <a:ea typeface="Calibri (MS)"/>
                <a:cs typeface="Calibri (MS)"/>
                <a:sym typeface="Calibri (MS)"/>
              </a:rPr>
              <a:t>Ubuntu 24.04.5 LTS sobre WSL2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4480" y="5777865"/>
            <a:ext cx="201168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5A5A66"/>
                </a:solidFill>
                <a:latin typeface="Calibri (MS)"/>
                <a:ea typeface="Calibri (MS)"/>
                <a:cs typeface="Calibri (MS)"/>
                <a:sym typeface="Calibri (MS)"/>
              </a:rPr>
              <a:t>Kernel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03320" y="5777865"/>
            <a:ext cx="452628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F0F0F3"/>
                </a:solidFill>
                <a:latin typeface="Calibri (MS)"/>
                <a:ea typeface="Calibri (MS)"/>
                <a:cs typeface="Calibri (MS)"/>
                <a:sym typeface="Calibri (MS)"/>
              </a:rPr>
              <a:t>6.6.87.2-microsoft-standard-WSL2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4480" y="6463665"/>
            <a:ext cx="201168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5A5A66"/>
                </a:solidFill>
                <a:latin typeface="Calibri (MS)"/>
                <a:ea typeface="Calibri (MS)"/>
                <a:cs typeface="Calibri (MS)"/>
                <a:sym typeface="Calibri (MS)"/>
              </a:rPr>
              <a:t>CPU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03320" y="6463665"/>
            <a:ext cx="452628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F0F0F3"/>
                </a:solidFill>
                <a:latin typeface="Calibri (MS)"/>
                <a:ea typeface="Calibri (MS)"/>
                <a:cs typeface="Calibri (MS)"/>
                <a:sym typeface="Calibri (MS)"/>
              </a:rPr>
              <a:t>Intel i5-10500H · 6 núcleos, 12 threads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4480" y="7149465"/>
            <a:ext cx="201168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5A5A66"/>
                </a:solidFill>
                <a:latin typeface="Calibri (MS)"/>
                <a:ea typeface="Calibri (MS)"/>
                <a:cs typeface="Calibri (MS)"/>
                <a:sym typeface="Calibri (MS)"/>
              </a:rPr>
              <a:t>Memória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03320" y="7149465"/>
            <a:ext cx="452628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F0F0F3"/>
                </a:solidFill>
                <a:latin typeface="Calibri (MS)"/>
                <a:ea typeface="Calibri (MS)"/>
                <a:cs typeface="Calibri (MS)"/>
                <a:sym typeface="Calibri (MS)"/>
              </a:rPr>
              <a:t>7,6 GiB · swap 2,0 GiB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4480" y="7835265"/>
            <a:ext cx="201168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5A5A66"/>
                </a:solidFill>
                <a:latin typeface="Calibri (MS)"/>
                <a:ea typeface="Calibri (MS)"/>
                <a:cs typeface="Calibri (MS)"/>
                <a:sym typeface="Calibri (MS)"/>
              </a:rPr>
              <a:t>Python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03320" y="7835265"/>
            <a:ext cx="452628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F0F0F3"/>
                </a:solidFill>
                <a:latin typeface="Calibri (MS)"/>
                <a:ea typeface="Calibri (MS)"/>
                <a:cs typeface="Calibri (MS)"/>
                <a:sym typeface="Calibri (MS)"/>
              </a:rPr>
              <a:t>3.12.3, apenas biblioteca padrão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1240" y="4069080"/>
            <a:ext cx="7680960" cy="4709160"/>
            <a:chOff x="0" y="0"/>
            <a:chExt cx="10241280" cy="6278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0" cy="6278880"/>
            </a:xfrm>
            <a:custGeom>
              <a:avLst/>
              <a:gdLst/>
              <a:ahLst/>
              <a:cxnLst/>
              <a:rect r="r" b="b" t="t" l="l"/>
              <a:pathLst>
                <a:path h="62788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278880"/>
                  </a:lnTo>
                  <a:lnTo>
                    <a:pt x="0" y="6278880"/>
                  </a:lnTo>
                  <a:close/>
                </a:path>
              </a:pathLst>
            </a:custGeom>
            <a:solidFill>
              <a:srgbClr val="13131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424160" y="4377690"/>
            <a:ext cx="6675120" cy="38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b="true" sz="2199" spc="29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FATORES VARIADOS — UM POR VEZ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24160" y="5092065"/>
            <a:ext cx="256032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5A5A66"/>
                </a:solidFill>
                <a:latin typeface="Calibri (MS)"/>
                <a:ea typeface="Calibri (MS)"/>
                <a:cs typeface="Calibri (MS)"/>
                <a:sym typeface="Calibri (MS)"/>
              </a:rPr>
              <a:t>Carga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21640" y="5111115"/>
            <a:ext cx="39776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F0F0F3"/>
                </a:solidFill>
                <a:latin typeface="Courier New"/>
                <a:ea typeface="Courier New"/>
                <a:cs typeface="Courier New"/>
                <a:sym typeface="Courier New"/>
              </a:rPr>
              <a:t>repetidas · distintas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24160" y="5777865"/>
            <a:ext cx="256032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5A5A66"/>
                </a:solidFill>
                <a:latin typeface="Calibri (MS)"/>
                <a:ea typeface="Calibri (MS)"/>
                <a:cs typeface="Calibri (MS)"/>
                <a:sym typeface="Calibri (MS)"/>
              </a:rPr>
              <a:t>Capacidade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121640" y="5796915"/>
            <a:ext cx="39776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F0F0F3"/>
                </a:solidFill>
                <a:latin typeface="Courier New"/>
                <a:ea typeface="Courier New"/>
                <a:cs typeface="Courier New"/>
                <a:sym typeface="Courier New"/>
              </a:rPr>
              <a:t>8 · 32 · 128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24160" y="6463665"/>
            <a:ext cx="256032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5A5A66"/>
                </a:solidFill>
                <a:latin typeface="Calibri (MS)"/>
                <a:ea typeface="Calibri (MS)"/>
                <a:cs typeface="Calibri (MS)"/>
                <a:sym typeface="Calibri (MS)"/>
              </a:rPr>
              <a:t>Política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21640" y="6482715"/>
            <a:ext cx="39776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F0F0F3"/>
                </a:solidFill>
                <a:latin typeface="Courier New"/>
                <a:ea typeface="Courier New"/>
                <a:cs typeface="Courier New"/>
                <a:sym typeface="Courier New"/>
              </a:rPr>
              <a:t>LRU · FIFO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24160" y="7149465"/>
            <a:ext cx="256032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5A5A66"/>
                </a:solidFill>
                <a:latin typeface="Calibri (MS)"/>
                <a:ea typeface="Calibri (MS)"/>
                <a:cs typeface="Calibri (MS)"/>
                <a:sym typeface="Calibri (MS)"/>
              </a:rPr>
              <a:t>Trabalhadores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121640" y="7168515"/>
            <a:ext cx="397764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F0F0F3"/>
                </a:solidFill>
                <a:latin typeface="Courier New"/>
                <a:ea typeface="Courier New"/>
                <a:cs typeface="Courier New"/>
                <a:sym typeface="Courier New"/>
              </a:rPr>
              <a:t>1 · 2 · 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24160" y="7953375"/>
            <a:ext cx="667512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D5DA8"/>
                </a:solidFill>
                <a:latin typeface="Calibri (MS)"/>
                <a:ea typeface="Calibri (MS)"/>
                <a:cs typeface="Calibri (MS)"/>
                <a:sym typeface="Calibri (MS)"/>
              </a:rPr>
              <a:t>12 configurações × 3 repetições = 36 execuções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51560" y="8995410"/>
            <a:ext cx="16184880" cy="38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Cada execução processa 200 consultas — lotes grandes permitem calcular mediana e p95, impossíveis sobre 3 pontos.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42" y="7409040"/>
            <a:ext cx="296513" cy="2508933"/>
          </a:xfrm>
          <a:custGeom>
            <a:avLst/>
            <a:gdLst/>
            <a:ahLst/>
            <a:cxnLst/>
            <a:rect r="r" b="b" t="t" l="l"/>
            <a:pathLst>
              <a:path h="2508933" w="296513">
                <a:moveTo>
                  <a:pt x="0" y="0"/>
                </a:moveTo>
                <a:lnTo>
                  <a:pt x="296514" y="0"/>
                </a:lnTo>
                <a:lnTo>
                  <a:pt x="296514" y="2508933"/>
                </a:lnTo>
                <a:lnTo>
                  <a:pt x="0" y="2508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884" t="0" r="-288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1560" y="798195"/>
            <a:ext cx="16184880" cy="84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sz="5999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O CACHE SÓ PAGA QUANDO HÁ REPETIÇÃO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1560" y="2000250"/>
            <a:ext cx="16184880" cy="38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Mesma capacidade, mesma política, mesmos quatro trabalhadores. Só muda o padrão de acesso.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51560" y="2971800"/>
            <a:ext cx="7680960" cy="5029200"/>
            <a:chOff x="0" y="0"/>
            <a:chExt cx="10241280" cy="6705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41280" cy="6705600"/>
            </a:xfrm>
            <a:custGeom>
              <a:avLst/>
              <a:gdLst/>
              <a:ahLst/>
              <a:cxnLst/>
              <a:rect r="r" b="b" t="t" l="l"/>
              <a:pathLst>
                <a:path h="67056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705600"/>
                  </a:lnTo>
                  <a:lnTo>
                    <a:pt x="0" y="6705600"/>
                  </a:lnTo>
                  <a:close/>
                </a:path>
              </a:pathLst>
            </a:custGeom>
            <a:solidFill>
              <a:srgbClr val="131317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00200" y="3318510"/>
            <a:ext cx="658368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spc="150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REPETIDAS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200" y="3903345"/>
            <a:ext cx="658368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5A5A66"/>
                </a:solidFill>
                <a:latin typeface="Calibri (MS)"/>
                <a:ea typeface="Calibri (MS)"/>
                <a:cs typeface="Calibri (MS)"/>
                <a:sym typeface="Calibri (MS)"/>
              </a:rPr>
              <a:t>60 consultas, acesso enviesado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0200" y="4634865"/>
            <a:ext cx="31089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71,2%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17720" y="4871847"/>
            <a:ext cx="3566160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5"/>
              </a:lnSpc>
            </a:pPr>
            <a:r>
              <a:rPr lang="en-US" sz="1700">
                <a:solidFill>
                  <a:srgbClr val="8A8A96"/>
                </a:solidFill>
                <a:latin typeface="Calibri (MS)"/>
                <a:ea typeface="Calibri (MS)"/>
                <a:cs typeface="Calibri (MS)"/>
                <a:sym typeface="Calibri (MS)"/>
              </a:rPr>
              <a:t>taxa de acerto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0200" y="5732145"/>
            <a:ext cx="31089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0,22 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17720" y="5969127"/>
            <a:ext cx="3566160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5"/>
              </a:lnSpc>
            </a:pPr>
            <a:r>
              <a:rPr lang="en-US" sz="1700">
                <a:solidFill>
                  <a:srgbClr val="8A8A96"/>
                </a:solidFill>
                <a:latin typeface="Calibri (MS)"/>
                <a:ea typeface="Calibri (MS)"/>
                <a:cs typeface="Calibri (MS)"/>
                <a:sym typeface="Calibri (MS)"/>
              </a:rPr>
              <a:t>tempo total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0200" y="6829425"/>
            <a:ext cx="31089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911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17720" y="7066407"/>
            <a:ext cx="3566160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5"/>
              </a:lnSpc>
            </a:pPr>
            <a:r>
              <a:rPr lang="en-US" sz="1700">
                <a:solidFill>
                  <a:srgbClr val="8A8A96"/>
                </a:solidFill>
                <a:latin typeface="Calibri (MS)"/>
                <a:ea typeface="Calibri (MS)"/>
                <a:cs typeface="Calibri (MS)"/>
                <a:sym typeface="Calibri (MS)"/>
              </a:rPr>
              <a:t>vazão (consultas/s)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1240" y="2971800"/>
            <a:ext cx="7680960" cy="5029200"/>
            <a:chOff x="0" y="0"/>
            <a:chExt cx="10241280" cy="6705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41280" cy="6705600"/>
            </a:xfrm>
            <a:custGeom>
              <a:avLst/>
              <a:gdLst/>
              <a:ahLst/>
              <a:cxnLst/>
              <a:rect r="r" b="b" t="t" l="l"/>
              <a:pathLst>
                <a:path h="67056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705600"/>
                  </a:lnTo>
                  <a:lnTo>
                    <a:pt x="0" y="6705600"/>
                  </a:lnTo>
                  <a:close/>
                </a:path>
              </a:pathLst>
            </a:custGeom>
            <a:solidFill>
              <a:srgbClr val="131317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469880" y="3318510"/>
            <a:ext cx="658368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spc="1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DISTINTAS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69880" y="3903345"/>
            <a:ext cx="658368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5A5A66"/>
                </a:solidFill>
                <a:latin typeface="Calibri (MS)"/>
                <a:ea typeface="Calibri (MS)"/>
                <a:cs typeface="Calibri (MS)"/>
                <a:sym typeface="Calibri (MS)"/>
              </a:rPr>
              <a:t>toda consulta é única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69880" y="4634865"/>
            <a:ext cx="31089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>
                <a:solidFill>
                  <a:srgbClr val="5A5A66"/>
                </a:solidFill>
                <a:latin typeface="Anton"/>
                <a:ea typeface="Anton"/>
                <a:cs typeface="Anton"/>
                <a:sym typeface="Anton"/>
              </a:rPr>
              <a:t>0,0%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87400" y="4871847"/>
            <a:ext cx="3566160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5"/>
              </a:lnSpc>
            </a:pPr>
            <a:r>
              <a:rPr lang="en-US" sz="1700">
                <a:solidFill>
                  <a:srgbClr val="8A8A96"/>
                </a:solidFill>
                <a:latin typeface="Calibri (MS)"/>
                <a:ea typeface="Calibri (MS)"/>
                <a:cs typeface="Calibri (MS)"/>
                <a:sym typeface="Calibri (MS)"/>
              </a:rPr>
              <a:t>taxa de acerto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69880" y="5732145"/>
            <a:ext cx="31089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>
                <a:solidFill>
                  <a:srgbClr val="5A5A66"/>
                </a:solidFill>
                <a:latin typeface="Anton"/>
                <a:ea typeface="Anton"/>
                <a:cs typeface="Anton"/>
                <a:sym typeface="Anton"/>
              </a:rPr>
              <a:t>0,79 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87400" y="5969127"/>
            <a:ext cx="3566160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5"/>
              </a:lnSpc>
            </a:pPr>
            <a:r>
              <a:rPr lang="en-US" sz="1700">
                <a:solidFill>
                  <a:srgbClr val="8A8A96"/>
                </a:solidFill>
                <a:latin typeface="Calibri (MS)"/>
                <a:ea typeface="Calibri (MS)"/>
                <a:cs typeface="Calibri (MS)"/>
                <a:sym typeface="Calibri (MS)"/>
              </a:rPr>
              <a:t>tempo total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9880" y="6829425"/>
            <a:ext cx="310896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>
                <a:solidFill>
                  <a:srgbClr val="5A5A66"/>
                </a:solidFill>
                <a:latin typeface="Anton"/>
                <a:ea typeface="Anton"/>
                <a:cs typeface="Anton"/>
                <a:sym typeface="Anton"/>
              </a:rPr>
              <a:t>255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87400" y="7066407"/>
            <a:ext cx="3566160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25"/>
              </a:lnSpc>
            </a:pPr>
            <a:r>
              <a:rPr lang="en-US" sz="1700">
                <a:solidFill>
                  <a:srgbClr val="8A8A96"/>
                </a:solidFill>
                <a:latin typeface="Calibri (MS)"/>
                <a:ea typeface="Calibri (MS)"/>
                <a:cs typeface="Calibri (MS)"/>
                <a:sym typeface="Calibri (MS)"/>
              </a:rPr>
              <a:t>vazão (consultas/s)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1560" y="8492490"/>
            <a:ext cx="16184880" cy="38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5.135×   um acerto custa 0,0029 ms; um erro, 15,12 ms. O cache não acelera a geração — elimina.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42" y="7409040"/>
            <a:ext cx="296513" cy="2508933"/>
          </a:xfrm>
          <a:custGeom>
            <a:avLst/>
            <a:gdLst/>
            <a:ahLst/>
            <a:cxnLst/>
            <a:rect r="r" b="b" t="t" l="l"/>
            <a:pathLst>
              <a:path h="2508933" w="296513">
                <a:moveTo>
                  <a:pt x="0" y="0"/>
                </a:moveTo>
                <a:lnTo>
                  <a:pt x="296514" y="0"/>
                </a:lnTo>
                <a:lnTo>
                  <a:pt x="296514" y="2508933"/>
                </a:lnTo>
                <a:lnTo>
                  <a:pt x="0" y="2508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884" t="0" r="-288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1560" y="798195"/>
            <a:ext cx="16184880" cy="84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sz="5999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CAPACIDADE SATURA - A POLÍTICA DECIDE NO MEIO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1560" y="2000250"/>
            <a:ext cx="16184880" cy="38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Carga repetida, universo de 60 consultas distintas.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51560" y="2971800"/>
            <a:ext cx="7680960" cy="5806440"/>
            <a:chOff x="0" y="0"/>
            <a:chExt cx="10241280" cy="7741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41280" cy="7741920"/>
            </a:xfrm>
            <a:custGeom>
              <a:avLst/>
              <a:gdLst/>
              <a:ahLst/>
              <a:cxnLst/>
              <a:rect r="r" b="b" t="t" l="l"/>
              <a:pathLst>
                <a:path h="77419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741920"/>
                  </a:lnTo>
                  <a:lnTo>
                    <a:pt x="0" y="7741920"/>
                  </a:lnTo>
                  <a:close/>
                </a:path>
              </a:pathLst>
            </a:custGeom>
            <a:solidFill>
              <a:srgbClr val="131317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54480" y="3299460"/>
            <a:ext cx="667512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b="true" sz="1500" spc="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CAPACIDADE DO CACHE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4480" y="4114038"/>
            <a:ext cx="14630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A5A66"/>
                </a:solidFill>
                <a:latin typeface="Courier New"/>
                <a:ea typeface="Courier New"/>
                <a:cs typeface="Courier New"/>
                <a:sym typeface="Courier New"/>
              </a:rPr>
              <a:t>cap 8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063240" y="4206240"/>
            <a:ext cx="1502588" cy="310896"/>
            <a:chOff x="0" y="0"/>
            <a:chExt cx="2003450" cy="4145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03425" cy="414528"/>
            </a:xfrm>
            <a:custGeom>
              <a:avLst/>
              <a:gdLst/>
              <a:ahLst/>
              <a:cxnLst/>
              <a:rect r="r" b="b" t="t" l="l"/>
              <a:pathLst>
                <a:path h="414528" w="2003425">
                  <a:moveTo>
                    <a:pt x="0" y="0"/>
                  </a:moveTo>
                  <a:lnTo>
                    <a:pt x="2003425" y="0"/>
                  </a:lnTo>
                  <a:lnTo>
                    <a:pt x="2003425" y="414528"/>
                  </a:lnTo>
                  <a:lnTo>
                    <a:pt x="0" y="414528"/>
                  </a:lnTo>
                  <a:close/>
                </a:path>
              </a:pathLst>
            </a:custGeom>
            <a:solidFill>
              <a:srgbClr val="8A8A9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263640" y="4013454"/>
            <a:ext cx="13716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36,5%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52360" y="4140708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8A8A96"/>
                </a:solidFill>
                <a:latin typeface="Calibri (MS)"/>
                <a:ea typeface="Calibri (MS)"/>
                <a:cs typeface="Calibri (MS)"/>
                <a:sym typeface="Calibri (MS)"/>
              </a:rPr>
              <a:t>104 subst.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4480" y="5348478"/>
            <a:ext cx="14630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A5A66"/>
                </a:solidFill>
                <a:latin typeface="Courier New"/>
                <a:ea typeface="Courier New"/>
                <a:cs typeface="Courier New"/>
                <a:sym typeface="Courier New"/>
              </a:rPr>
              <a:t>cap 32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063240" y="5440680"/>
            <a:ext cx="2931071" cy="310896"/>
            <a:chOff x="0" y="0"/>
            <a:chExt cx="3908095" cy="4145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08044" cy="414528"/>
            </a:xfrm>
            <a:custGeom>
              <a:avLst/>
              <a:gdLst/>
              <a:ahLst/>
              <a:cxnLst/>
              <a:rect r="r" b="b" t="t" l="l"/>
              <a:pathLst>
                <a:path h="414528" w="3908044">
                  <a:moveTo>
                    <a:pt x="0" y="0"/>
                  </a:moveTo>
                  <a:lnTo>
                    <a:pt x="3908044" y="0"/>
                  </a:lnTo>
                  <a:lnTo>
                    <a:pt x="3908044" y="414528"/>
                  </a:lnTo>
                  <a:lnTo>
                    <a:pt x="0" y="414528"/>
                  </a:lnTo>
                  <a:close/>
                </a:path>
              </a:pathLst>
            </a:custGeom>
            <a:solidFill>
              <a:srgbClr val="5D5DA8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263640" y="5247894"/>
            <a:ext cx="13716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71,2%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52360" y="5375148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8A8A96"/>
                </a:solidFill>
                <a:latin typeface="Calibri (MS)"/>
                <a:ea typeface="Calibri (MS)"/>
                <a:cs typeface="Calibri (MS)"/>
                <a:sym typeface="Calibri (MS)"/>
              </a:rPr>
              <a:t>19 subst.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4480" y="6582918"/>
            <a:ext cx="146304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A5A66"/>
                </a:solidFill>
                <a:latin typeface="Courier New"/>
                <a:ea typeface="Courier New"/>
                <a:cs typeface="Courier New"/>
                <a:sym typeface="Courier New"/>
              </a:rPr>
              <a:t>cap 128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063240" y="6675120"/>
            <a:ext cx="3017520" cy="310896"/>
            <a:chOff x="0" y="0"/>
            <a:chExt cx="4023360" cy="4145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23360" cy="414528"/>
            </a:xfrm>
            <a:custGeom>
              <a:avLst/>
              <a:gdLst/>
              <a:ahLst/>
              <a:cxnLst/>
              <a:rect r="r" b="b" t="t" l="l"/>
              <a:pathLst>
                <a:path h="41452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14528"/>
                  </a:lnTo>
                  <a:lnTo>
                    <a:pt x="0" y="414528"/>
                  </a:lnTo>
                  <a:close/>
                </a:path>
              </a:pathLst>
            </a:custGeom>
            <a:solidFill>
              <a:srgbClr val="484FA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263640" y="6482334"/>
            <a:ext cx="13716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73,3%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52360" y="6609588"/>
            <a:ext cx="8229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75"/>
              </a:lnSpc>
            </a:pPr>
            <a:r>
              <a:rPr lang="en-US" sz="1500">
                <a:solidFill>
                  <a:srgbClr val="8A8A96"/>
                </a:solidFill>
                <a:latin typeface="Calibri (MS)"/>
                <a:ea typeface="Calibri (MS)"/>
                <a:cs typeface="Calibri (MS)"/>
                <a:sym typeface="Calibri (MS)"/>
              </a:rPr>
              <a:t>0 subst.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54480" y="7568565"/>
            <a:ext cx="667512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 8 para 32 a taxa quase dobra. De 32 para 128 ganha 2 pontos — mas zera as substituições: o universo inteiro passa a caber.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1240" y="2971800"/>
            <a:ext cx="7680960" cy="5806440"/>
            <a:chOff x="0" y="0"/>
            <a:chExt cx="10241280" cy="77419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0" cy="7741920"/>
            </a:xfrm>
            <a:custGeom>
              <a:avLst/>
              <a:gdLst/>
              <a:ahLst/>
              <a:cxnLst/>
              <a:rect r="r" b="b" t="t" l="l"/>
              <a:pathLst>
                <a:path h="77419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741920"/>
                  </a:lnTo>
                  <a:lnTo>
                    <a:pt x="0" y="7741920"/>
                  </a:lnTo>
                  <a:close/>
                </a:path>
              </a:pathLst>
            </a:custGeom>
            <a:solidFill>
              <a:srgbClr val="131317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424160" y="3299460"/>
            <a:ext cx="667512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b="true" sz="1500" spc="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POLÍTICA DE REMOÇÃO · CAPACIDADE 32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24160" y="4141470"/>
            <a:ext cx="18288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spc="100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LRU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90120" y="4123563"/>
            <a:ext cx="201168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9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71,2%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24160" y="4790313"/>
            <a:ext cx="667512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8A8A96"/>
                </a:solidFill>
                <a:latin typeface="Calibri (MS)"/>
                <a:ea typeface="Calibri (MS)"/>
                <a:cs typeface="Calibri (MS)"/>
                <a:sym typeface="Calibri (MS)"/>
              </a:rPr>
              <a:t>19 substituições · 911 consultas/s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24160" y="5741670"/>
            <a:ext cx="18288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00" spc="100">
                <a:solidFill>
                  <a:srgbClr val="8A8A96"/>
                </a:solidFill>
                <a:latin typeface="Anton"/>
                <a:ea typeface="Anton"/>
                <a:cs typeface="Anton"/>
                <a:sym typeface="Anton"/>
              </a:rPr>
              <a:t>FIFO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90120" y="5723763"/>
            <a:ext cx="201168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9">
                <a:solidFill>
                  <a:srgbClr val="5A5A66"/>
                </a:solidFill>
                <a:latin typeface="Anton"/>
                <a:ea typeface="Anton"/>
                <a:cs typeface="Anton"/>
                <a:sym typeface="Anton"/>
              </a:rPr>
              <a:t>64,5%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24160" y="6390513"/>
            <a:ext cx="667512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8A8A96"/>
                </a:solidFill>
                <a:latin typeface="Calibri (MS)"/>
                <a:ea typeface="Calibri (MS)"/>
                <a:cs typeface="Calibri (MS)"/>
                <a:sym typeface="Calibri (MS)"/>
              </a:rPr>
              <a:t>28 substituições · 744 consultas/s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424160" y="7568565"/>
            <a:ext cx="6675120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 FIFO descarta por idade: remove a consulta popular que chegou cedo. O LRU preserva o conjunto quente. Sob acesso uniforme empatariam — a diferença só existe porque há localidade.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42" y="7409040"/>
            <a:ext cx="296513" cy="2508933"/>
          </a:xfrm>
          <a:custGeom>
            <a:avLst/>
            <a:gdLst/>
            <a:ahLst/>
            <a:cxnLst/>
            <a:rect r="r" b="b" t="t" l="l"/>
            <a:pathLst>
              <a:path h="2508933" w="296513">
                <a:moveTo>
                  <a:pt x="0" y="0"/>
                </a:moveTo>
                <a:lnTo>
                  <a:pt x="296514" y="0"/>
                </a:lnTo>
                <a:lnTo>
                  <a:pt x="296514" y="2508933"/>
                </a:lnTo>
                <a:lnTo>
                  <a:pt x="0" y="2508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884" t="0" r="-288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51560" y="798195"/>
            <a:ext cx="16184880" cy="84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sz="5999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ESCALA BEM, MAS NÃO MELHORA O PIOR CASO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1560" y="1990725"/>
            <a:ext cx="1618488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Conclusões do C4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51560" y="2971800"/>
            <a:ext cx="16184880" cy="2514600"/>
            <a:chOff x="0" y="0"/>
            <a:chExt cx="21579840" cy="335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3352800"/>
            </a:xfrm>
            <a:custGeom>
              <a:avLst/>
              <a:gdLst/>
              <a:ahLst/>
              <a:cxnLst/>
              <a:rect r="r" b="b" t="t" l="l"/>
              <a:pathLst>
                <a:path h="33528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3352800"/>
                  </a:lnTo>
                  <a:lnTo>
                    <a:pt x="0" y="3352800"/>
                  </a:lnTo>
                  <a:close/>
                </a:path>
              </a:pathLst>
            </a:custGeom>
            <a:solidFill>
              <a:srgbClr val="131317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54480" y="3253740"/>
            <a:ext cx="41148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b="true" sz="1500" spc="199">
                <a:solidFill>
                  <a:srgbClr val="5A5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CONCORRÊNCIA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4480" y="3867150"/>
            <a:ext cx="237744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3399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251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4480" y="4634865"/>
            <a:ext cx="338328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8A8A96"/>
                </a:solidFill>
                <a:latin typeface="Calibri (MS)"/>
                <a:ea typeface="Calibri (MS)"/>
                <a:cs typeface="Calibri (MS)"/>
                <a:sym typeface="Calibri (MS)"/>
              </a:rPr>
              <a:t>1 thread · 0,81 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12080" y="3867150"/>
            <a:ext cx="237744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3399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481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12080" y="4634865"/>
            <a:ext cx="338328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8A8A96"/>
                </a:solidFill>
                <a:latin typeface="Calibri (MS)"/>
                <a:ea typeface="Calibri (MS)"/>
                <a:cs typeface="Calibri (MS)"/>
                <a:sym typeface="Calibri (MS)"/>
              </a:rPr>
              <a:t>2 threads · 0,42 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69680" y="3867150"/>
            <a:ext cx="237744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3399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911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69680" y="4634865"/>
            <a:ext cx="338328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599">
                <a:solidFill>
                  <a:srgbClr val="8A8A96"/>
                </a:solidFill>
                <a:latin typeface="Calibri (MS)"/>
                <a:ea typeface="Calibri (MS)"/>
                <a:cs typeface="Calibri (MS)"/>
                <a:sym typeface="Calibri (MS)"/>
              </a:rPr>
              <a:t>4 threads · 0,22 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73000" y="3699510"/>
            <a:ext cx="4480560" cy="120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3,6× com 4 trabalhadores. O mutex não virou gargalo: a seção crítica é curta e a geração acontece fora dela.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51560" y="5806440"/>
            <a:ext cx="16184880" cy="2743200"/>
            <a:chOff x="0" y="0"/>
            <a:chExt cx="21579840" cy="3657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579839" cy="3657600"/>
            </a:xfrm>
            <a:custGeom>
              <a:avLst/>
              <a:gdLst/>
              <a:ahLst/>
              <a:cxnLst/>
              <a:rect r="r" b="b" t="t" l="l"/>
              <a:pathLst>
                <a:path h="36576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31317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54480" y="6088380"/>
            <a:ext cx="82296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b="true" sz="1500" spc="199">
                <a:solidFill>
                  <a:srgbClr val="5A5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LATÊNCIA — CARGA REPETIDA, CAPACIDADE 32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4480" y="6682740"/>
            <a:ext cx="292608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b="true" sz="1500" spc="150">
                <a:solidFill>
                  <a:srgbClr val="5A5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MEDIANA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4480" y="7195185"/>
            <a:ext cx="2926080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0,0 ms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12080" y="6682740"/>
            <a:ext cx="292608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b="true" sz="1500" spc="150">
                <a:solidFill>
                  <a:srgbClr val="5A5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MÉDIA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12080" y="7195185"/>
            <a:ext cx="2926080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>
                <a:solidFill>
                  <a:srgbClr val="F0F0F3"/>
                </a:solidFill>
                <a:latin typeface="Anton"/>
                <a:ea typeface="Anton"/>
                <a:cs typeface="Anton"/>
                <a:sym typeface="Anton"/>
              </a:rPr>
              <a:t>4,3 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69680" y="6682740"/>
            <a:ext cx="292608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b="true" sz="1500" spc="150">
                <a:solidFill>
                  <a:srgbClr val="5A5A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p95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69680" y="7195185"/>
            <a:ext cx="2926080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>
                <a:solidFill>
                  <a:srgbClr val="C96A94"/>
                </a:solidFill>
                <a:latin typeface="Anton"/>
                <a:ea typeface="Anton"/>
                <a:cs typeface="Anton"/>
                <a:sym typeface="Anton"/>
              </a:rPr>
              <a:t>16,5 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73000" y="6579870"/>
            <a:ext cx="4480560" cy="120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2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 cauda da distribuição é o conjunto de erros. O cache não melhora o pior caso — só o torna raro.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1560" y="8858250"/>
            <a:ext cx="16184880" cy="38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>
                <a:solidFill>
                  <a:srgbClr val="F0F0F3"/>
                </a:solidFill>
                <a:latin typeface="Calibri (MS)"/>
                <a:ea typeface="Calibri (MS)"/>
                <a:cs typeface="Calibri (MS)"/>
                <a:sym typeface="Calibri (MS)"/>
              </a:rPr>
              <a:t>Em nível de aplicação, o mesmo comportamento do cache de páginas do kernel: localidade decide tudo.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661571" y="8663503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8" y="0"/>
                </a:moveTo>
                <a:lnTo>
                  <a:pt x="0" y="0"/>
                </a:lnTo>
                <a:lnTo>
                  <a:pt x="0" y="1187583"/>
                </a:lnTo>
                <a:lnTo>
                  <a:pt x="734258" y="1187583"/>
                </a:lnTo>
                <a:lnTo>
                  <a:pt x="73425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661571" y="8663503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8" y="0"/>
                </a:moveTo>
                <a:lnTo>
                  <a:pt x="0" y="0"/>
                </a:lnTo>
                <a:lnTo>
                  <a:pt x="0" y="1187583"/>
                </a:lnTo>
                <a:lnTo>
                  <a:pt x="734258" y="1187583"/>
                </a:lnTo>
                <a:lnTo>
                  <a:pt x="73425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3143158" y="6042776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9" y="0"/>
                </a:moveTo>
                <a:lnTo>
                  <a:pt x="0" y="0"/>
                </a:lnTo>
                <a:lnTo>
                  <a:pt x="0" y="1187583"/>
                </a:lnTo>
                <a:lnTo>
                  <a:pt x="734259" y="1187583"/>
                </a:lnTo>
                <a:lnTo>
                  <a:pt x="73425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29493" y="4706348"/>
            <a:ext cx="13575684" cy="102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96"/>
              </a:lnSpc>
              <a:spcBef>
                <a:spcPct val="0"/>
              </a:spcBef>
            </a:pPr>
            <a:r>
              <a:rPr lang="en-US" sz="7796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3 - RAUANY INGRID SANTOS DE JESUS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8805" y="777455"/>
            <a:ext cx="9145293" cy="864646"/>
          </a:xfrm>
          <a:custGeom>
            <a:avLst/>
            <a:gdLst/>
            <a:ahLst/>
            <a:cxnLst/>
            <a:rect r="r" b="b" t="t" l="l"/>
            <a:pathLst>
              <a:path h="864646" w="9145293">
                <a:moveTo>
                  <a:pt x="0" y="0"/>
                </a:moveTo>
                <a:lnTo>
                  <a:pt x="9145293" y="0"/>
                </a:lnTo>
                <a:lnTo>
                  <a:pt x="9145293" y="864646"/>
                </a:lnTo>
                <a:lnTo>
                  <a:pt x="0" y="864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36195" y="1242565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15345" y="1124137"/>
            <a:ext cx="8008754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MODELO: GOOGLE/GEMMA-4-E2B-IT-QAT-Q4_0-GGUF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06553"/>
            <a:ext cx="10822226" cy="268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69"/>
              </a:lnSpc>
            </a:pPr>
          </a:p>
          <a:p>
            <a:pPr algn="just" marL="647695" indent="-323848" lvl="1">
              <a:lnSpc>
                <a:spcPts val="3569"/>
              </a:lnSpc>
              <a:buFont typeface="Arial"/>
              <a:buChar char="•"/>
            </a:pPr>
            <a:r>
              <a:rPr lang="en-US" b="true" sz="2999">
                <a:solidFill>
                  <a:srgbClr val="484FA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2,3B parâmetros efetivos (5,1B com embeddings)</a:t>
            </a:r>
          </a:p>
          <a:p>
            <a:pPr algn="just" marL="647695" indent="-323848" lvl="1">
              <a:lnSpc>
                <a:spcPts val="3569"/>
              </a:lnSpc>
              <a:buFont typeface="Arial"/>
              <a:buChar char="•"/>
            </a:pPr>
            <a:r>
              <a:rPr lang="en-US" b="true" sz="2999">
                <a:solidFill>
                  <a:srgbClr val="484FA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128K tokens de contexto</a:t>
            </a:r>
          </a:p>
          <a:p>
            <a:pPr algn="just" marL="647695" indent="-323848" lvl="1">
              <a:lnSpc>
                <a:spcPts val="3569"/>
              </a:lnSpc>
              <a:buFont typeface="Arial"/>
              <a:buChar char="•"/>
            </a:pPr>
            <a:r>
              <a:rPr lang="en-US" b="true" sz="2999">
                <a:solidFill>
                  <a:srgbClr val="484FA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3,35 GB (arquivo GGUF Q4_0)</a:t>
            </a:r>
          </a:p>
          <a:p>
            <a:pPr algn="just" marL="647695" indent="-323848" lvl="1">
              <a:lnSpc>
                <a:spcPts val="3569"/>
              </a:lnSpc>
              <a:buFont typeface="Arial"/>
              <a:buChar char="•"/>
            </a:pPr>
            <a:r>
              <a:rPr lang="en-US" b="true" sz="2999">
                <a:solidFill>
                  <a:srgbClr val="484FA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Licença: Apache 2.0</a:t>
            </a:r>
          </a:p>
          <a:p>
            <a:pPr algn="just">
              <a:lnSpc>
                <a:spcPts val="356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890356"/>
            <a:ext cx="13946239" cy="402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69"/>
              </a:lnSpc>
            </a:pPr>
          </a:p>
          <a:p>
            <a:pPr algn="just" marL="647695" indent="-323848" lvl="1">
              <a:lnSpc>
                <a:spcPts val="3569"/>
              </a:lnSpc>
              <a:buFont typeface="Arial"/>
              <a:buChar char="•"/>
            </a:pPr>
            <a:r>
              <a:rPr lang="en-US" b="true" sz="2999">
                <a:solidFill>
                  <a:srgbClr val="484FA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GGUF, derivado de checkpoint QAT (Quantization-Aware Training)</a:t>
            </a:r>
          </a:p>
          <a:p>
            <a:pPr algn="just" marL="647695" indent="-323848" lvl="1">
              <a:lnSpc>
                <a:spcPts val="3569"/>
              </a:lnSpc>
              <a:buFont typeface="Arial"/>
              <a:buChar char="•"/>
            </a:pPr>
            <a:r>
              <a:rPr lang="en-US" b="true" sz="2999">
                <a:solidFill>
                  <a:srgbClr val="484FA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Cad</a:t>
            </a:r>
            <a:r>
              <a:rPr lang="en-US" b="true" sz="2999">
                <a:solidFill>
                  <a:srgbClr val="484FA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eia: base → instruct ("-it") → QAT unquantized → conversão GGUF</a:t>
            </a:r>
          </a:p>
          <a:p>
            <a:pPr algn="just" marL="647695" indent="-323848" lvl="1">
              <a:lnSpc>
                <a:spcPts val="3569"/>
              </a:lnSpc>
              <a:buFont typeface="Arial"/>
              <a:buChar char="•"/>
            </a:pPr>
            <a:r>
              <a:rPr lang="en-US" b="true" sz="2999">
                <a:solidFill>
                  <a:srgbClr val="484FA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Quantização Q4_0 já embutida no treino, não aplicada depois</a:t>
            </a:r>
          </a:p>
          <a:p>
            <a:pPr algn="just">
              <a:lnSpc>
                <a:spcPts val="3569"/>
              </a:lnSpc>
            </a:pPr>
          </a:p>
          <a:p>
            <a:pPr algn="just" marL="647695" indent="-323848" lvl="1">
              <a:lnSpc>
                <a:spcPts val="3569"/>
              </a:lnSpc>
              <a:buFont typeface="Arial"/>
              <a:buChar char="•"/>
            </a:pPr>
            <a:r>
              <a:rPr lang="en-US" b="true" sz="2999">
                <a:solidFill>
                  <a:srgbClr val="484FA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Ollama (via ollama run hf.co/...), llama.cpp, LM Studio, Jan, Unsloth Desktop</a:t>
            </a:r>
          </a:p>
          <a:p>
            <a:pPr algn="just">
              <a:lnSpc>
                <a:spcPts val="3569"/>
              </a:lnSpc>
            </a:pPr>
          </a:p>
          <a:p>
            <a:pPr algn="just">
              <a:lnSpc>
                <a:spcPts val="356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35246" y="2196524"/>
            <a:ext cx="800875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true" sz="3000">
                <a:solidFill>
                  <a:srgbClr val="333A8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FICHA TÉCNICA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8805" y="777455"/>
            <a:ext cx="9145293" cy="864646"/>
          </a:xfrm>
          <a:custGeom>
            <a:avLst/>
            <a:gdLst/>
            <a:ahLst/>
            <a:cxnLst/>
            <a:rect r="r" b="b" t="t" l="l"/>
            <a:pathLst>
              <a:path h="864646" w="9145293">
                <a:moveTo>
                  <a:pt x="0" y="0"/>
                </a:moveTo>
                <a:lnTo>
                  <a:pt x="9145293" y="0"/>
                </a:lnTo>
                <a:lnTo>
                  <a:pt x="9145293" y="864646"/>
                </a:lnTo>
                <a:lnTo>
                  <a:pt x="0" y="8646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36195" y="1242565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3297866" y="8750534"/>
            <a:ext cx="638397" cy="1032538"/>
          </a:xfrm>
          <a:custGeom>
            <a:avLst/>
            <a:gdLst/>
            <a:ahLst/>
            <a:cxnLst/>
            <a:rect r="r" b="b" t="t" l="l"/>
            <a:pathLst>
              <a:path h="1032538" w="638397">
                <a:moveTo>
                  <a:pt x="638397" y="0"/>
                </a:moveTo>
                <a:lnTo>
                  <a:pt x="0" y="0"/>
                </a:lnTo>
                <a:lnTo>
                  <a:pt x="0" y="1032538"/>
                </a:lnTo>
                <a:lnTo>
                  <a:pt x="638397" y="1032538"/>
                </a:lnTo>
                <a:lnTo>
                  <a:pt x="6383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15345" y="1124137"/>
            <a:ext cx="8008754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MODELO: GOOGLE/GEMMA-4-E2B-IT-QAT-Q4_0-GGUF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8805" y="2070213"/>
            <a:ext cx="13946239" cy="6261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69"/>
              </a:lnSpc>
            </a:pPr>
          </a:p>
          <a:p>
            <a:pPr algn="just">
              <a:lnSpc>
                <a:spcPts val="3569"/>
              </a:lnSpc>
            </a:pPr>
            <a:r>
              <a:rPr lang="en-US" sz="2999" b="true">
                <a:solidFill>
                  <a:srgbClr val="484FA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Por que essa escolha</a:t>
            </a:r>
          </a:p>
          <a:p>
            <a:pPr algn="just">
              <a:lnSpc>
                <a:spcPts val="3569"/>
              </a:lnSpc>
            </a:pPr>
          </a:p>
          <a:p>
            <a:pPr algn="just" marL="647695" indent="-323848" lvl="1">
              <a:lnSpc>
                <a:spcPts val="3569"/>
              </a:lnSpc>
              <a:buFont typeface="Arial"/>
              <a:buChar char="•"/>
            </a:pPr>
            <a:r>
              <a:rPr lang="en-US" sz="2999">
                <a:solidFill>
                  <a:srgbClr val="484FA2"/>
                </a:solidFill>
                <a:latin typeface="Montserrat"/>
                <a:ea typeface="Montserrat"/>
                <a:cs typeface="Montserrat"/>
                <a:sym typeface="Montserrat"/>
              </a:rPr>
              <a:t>Já vem em GGUF, pronto para Ollama — sem conversão extra</a:t>
            </a:r>
          </a:p>
          <a:p>
            <a:pPr algn="just" marL="647695" indent="-323848" lvl="1">
              <a:lnSpc>
                <a:spcPts val="3569"/>
              </a:lnSpc>
              <a:buFont typeface="Arial"/>
              <a:buChar char="•"/>
            </a:pPr>
            <a:r>
              <a:rPr lang="en-US" sz="2999">
                <a:solidFill>
                  <a:srgbClr val="484FA2"/>
                </a:solidFill>
                <a:latin typeface="Montserrat"/>
                <a:ea typeface="Montserrat"/>
                <a:cs typeface="Montserrat"/>
                <a:sym typeface="Montserrat"/>
              </a:rPr>
              <a:t>QAT preserva qualidade próxima do BF16, mesmo em 4 bits</a:t>
            </a:r>
          </a:p>
          <a:p>
            <a:pPr algn="just" marL="647695" indent="-323848" lvl="1">
              <a:lnSpc>
                <a:spcPts val="3569"/>
              </a:lnSpc>
              <a:buFont typeface="Arial"/>
              <a:buChar char="•"/>
            </a:pPr>
            <a:r>
              <a:rPr lang="en-US" sz="2999">
                <a:solidFill>
                  <a:srgbClr val="484FA2"/>
                </a:solidFill>
                <a:latin typeface="Montserrat"/>
                <a:ea typeface="Montserrat"/>
                <a:cs typeface="Montserrat"/>
                <a:sym typeface="Montserrat"/>
              </a:rPr>
              <a:t>Footprint leve (~2,3B efetivos) viável no hardware da equipe</a:t>
            </a:r>
          </a:p>
          <a:p>
            <a:pPr algn="just">
              <a:lnSpc>
                <a:spcPts val="3569"/>
              </a:lnSpc>
            </a:pPr>
          </a:p>
          <a:p>
            <a:pPr algn="just">
              <a:lnSpc>
                <a:spcPts val="3569"/>
              </a:lnSpc>
            </a:pPr>
            <a:r>
              <a:rPr lang="en-US" b="true" sz="2999">
                <a:solidFill>
                  <a:srgbClr val="484FA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Uso crítico de IA generativa — pontos verificados</a:t>
            </a:r>
          </a:p>
          <a:p>
            <a:pPr algn="just">
              <a:lnSpc>
                <a:spcPts val="3569"/>
              </a:lnSpc>
            </a:pPr>
          </a:p>
          <a:p>
            <a:pPr algn="just" marL="647695" indent="-323848" lvl="1">
              <a:lnSpc>
                <a:spcPts val="3569"/>
              </a:lnSpc>
              <a:buFont typeface="Arial"/>
              <a:buChar char="•"/>
            </a:pPr>
            <a:r>
              <a:rPr lang="en-US" sz="2999">
                <a:solidFill>
                  <a:srgbClr val="484FA2"/>
                </a:solidFill>
                <a:latin typeface="Montserrat"/>
                <a:ea typeface="Montserrat"/>
                <a:cs typeface="Montserrat"/>
                <a:sym typeface="Montserrat"/>
              </a:rPr>
              <a:t>Confusão entre a Família do modelo</a:t>
            </a:r>
          </a:p>
          <a:p>
            <a:pPr algn="just" marL="647695" indent="-323848" lvl="1">
              <a:lnSpc>
                <a:spcPts val="3569"/>
              </a:lnSpc>
              <a:buFont typeface="Arial"/>
              <a:buChar char="•"/>
            </a:pPr>
            <a:r>
              <a:rPr lang="en-US" sz="2999">
                <a:solidFill>
                  <a:srgbClr val="484FA2"/>
                </a:solidFill>
                <a:latin typeface="Montserrat"/>
                <a:ea typeface="Montserrat"/>
                <a:cs typeface="Montserrat"/>
                <a:sym typeface="Montserrat"/>
              </a:rPr>
              <a:t>Licença: conferida no repositório (Apache 2.0)</a:t>
            </a:r>
          </a:p>
          <a:p>
            <a:pPr algn="just" marL="647695" indent="-323848" lvl="1">
              <a:lnSpc>
                <a:spcPts val="3569"/>
              </a:lnSpc>
              <a:buFont typeface="Arial"/>
              <a:buChar char="•"/>
            </a:pPr>
            <a:r>
              <a:rPr lang="en-US" sz="2999">
                <a:solidFill>
                  <a:srgbClr val="484FA2"/>
                </a:solidFill>
                <a:latin typeface="Montserrat"/>
                <a:ea typeface="Montserrat"/>
                <a:cs typeface="Montserrat"/>
                <a:sym typeface="Montserrat"/>
              </a:rPr>
              <a:t>Tamanho do arquivo: 3,35 GB a validar após download real (du -sh)</a:t>
            </a:r>
          </a:p>
          <a:p>
            <a:pPr algn="just" marL="647695" indent="-323848" lvl="1">
              <a:lnSpc>
                <a:spcPts val="3569"/>
              </a:lnSpc>
              <a:buFont typeface="Arial"/>
              <a:buChar char="•"/>
            </a:pPr>
            <a:r>
              <a:rPr lang="en-US" sz="2999">
                <a:solidFill>
                  <a:srgbClr val="484FA2"/>
                </a:solidFill>
                <a:latin typeface="Montserrat"/>
                <a:ea typeface="Montserrat"/>
                <a:cs typeface="Montserrat"/>
                <a:sym typeface="Montserrat"/>
              </a:rPr>
              <a:t>Idioma: treino em 140+ idiomas não garante qualidade em português</a:t>
            </a:r>
          </a:p>
          <a:p>
            <a:pPr algn="just">
              <a:lnSpc>
                <a:spcPts val="3569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3143158" y="6042776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9" y="0"/>
                </a:moveTo>
                <a:lnTo>
                  <a:pt x="0" y="0"/>
                </a:lnTo>
                <a:lnTo>
                  <a:pt x="0" y="1187583"/>
                </a:lnTo>
                <a:lnTo>
                  <a:pt x="734259" y="1187583"/>
                </a:lnTo>
                <a:lnTo>
                  <a:pt x="73425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29493" y="4706348"/>
            <a:ext cx="12629013" cy="102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96"/>
              </a:lnSpc>
              <a:spcBef>
                <a:spcPct val="0"/>
              </a:spcBef>
            </a:pPr>
            <a:r>
              <a:rPr lang="en-US" sz="7796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4 - JOSÉ FAGNER SILVA JUNQUEIRA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3143158" y="6042776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9" y="0"/>
                </a:moveTo>
                <a:lnTo>
                  <a:pt x="0" y="0"/>
                </a:lnTo>
                <a:lnTo>
                  <a:pt x="0" y="1187583"/>
                </a:lnTo>
                <a:lnTo>
                  <a:pt x="734259" y="1187583"/>
                </a:lnTo>
                <a:lnTo>
                  <a:pt x="73425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78886" y="4706348"/>
            <a:ext cx="10930227" cy="102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96"/>
              </a:lnSpc>
              <a:spcBef>
                <a:spcPct val="0"/>
              </a:spcBef>
            </a:pPr>
            <a:r>
              <a:rPr lang="en-US" sz="7796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INGESTÃO E ARMAZENAMENTO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3143158" y="6042776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9" y="0"/>
                </a:moveTo>
                <a:lnTo>
                  <a:pt x="0" y="0"/>
                </a:lnTo>
                <a:lnTo>
                  <a:pt x="0" y="1187583"/>
                </a:lnTo>
                <a:lnTo>
                  <a:pt x="734259" y="1187583"/>
                </a:lnTo>
                <a:lnTo>
                  <a:pt x="73425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8056" y="4450801"/>
            <a:ext cx="15861244" cy="102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96"/>
              </a:lnSpc>
              <a:spcBef>
                <a:spcPct val="0"/>
              </a:spcBef>
            </a:pPr>
            <a:r>
              <a:rPr lang="en-US" sz="7796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6- GIULIAN FABIO BASTOS AMORIM LIMA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25074" y="6815247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9" y="0"/>
                </a:moveTo>
                <a:lnTo>
                  <a:pt x="0" y="0"/>
                </a:lnTo>
                <a:lnTo>
                  <a:pt x="0" y="1187583"/>
                </a:lnTo>
                <a:lnTo>
                  <a:pt x="734259" y="1187583"/>
                </a:lnTo>
                <a:lnTo>
                  <a:pt x="73425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288256" y="3120956"/>
            <a:ext cx="18288000" cy="298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6"/>
              </a:lnSpc>
            </a:pPr>
            <a:r>
              <a:rPr lang="en-US" sz="779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OBJETIVO:</a:t>
            </a:r>
          </a:p>
          <a:p>
            <a:pPr algn="ctr">
              <a:lnSpc>
                <a:spcPts val="7796"/>
              </a:lnSpc>
              <a:spcBef>
                <a:spcPct val="0"/>
              </a:spcBef>
            </a:pPr>
            <a:r>
              <a:rPr lang="en-US" sz="779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LEITURA CONVENCIONAL E MAPEAMENTO DE MEMÓRIA 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3940" y="2343013"/>
            <a:ext cx="17182350" cy="5864634"/>
          </a:xfrm>
          <a:custGeom>
            <a:avLst/>
            <a:gdLst/>
            <a:ahLst/>
            <a:cxnLst/>
            <a:rect r="r" b="b" t="t" l="l"/>
            <a:pathLst>
              <a:path h="5864634" w="17182350">
                <a:moveTo>
                  <a:pt x="0" y="0"/>
                </a:moveTo>
                <a:lnTo>
                  <a:pt x="17182350" y="0"/>
                </a:lnTo>
                <a:lnTo>
                  <a:pt x="17182350" y="5864635"/>
                </a:lnTo>
                <a:lnTo>
                  <a:pt x="0" y="586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79246" y="995072"/>
            <a:ext cx="8760294" cy="1026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6"/>
              </a:lnSpc>
              <a:spcBef>
                <a:spcPct val="0"/>
              </a:spcBef>
            </a:pPr>
            <a:r>
              <a:rPr lang="en-US" sz="779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CRIAÇÃO DA ESTRUTURA: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078172" y="8544780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8" y="0"/>
                </a:moveTo>
                <a:lnTo>
                  <a:pt x="0" y="0"/>
                </a:lnTo>
                <a:lnTo>
                  <a:pt x="0" y="1187584"/>
                </a:lnTo>
                <a:lnTo>
                  <a:pt x="734258" y="1187584"/>
                </a:lnTo>
                <a:lnTo>
                  <a:pt x="73425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75598" y="2050221"/>
            <a:ext cx="12936804" cy="9807633"/>
          </a:xfrm>
          <a:custGeom>
            <a:avLst/>
            <a:gdLst/>
            <a:ahLst/>
            <a:cxnLst/>
            <a:rect r="r" b="b" t="t" l="l"/>
            <a:pathLst>
              <a:path h="9807633" w="12936804">
                <a:moveTo>
                  <a:pt x="0" y="0"/>
                </a:moveTo>
                <a:lnTo>
                  <a:pt x="12936804" y="0"/>
                </a:lnTo>
                <a:lnTo>
                  <a:pt x="12936804" y="9807634"/>
                </a:lnTo>
                <a:lnTo>
                  <a:pt x="0" y="98076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65481" y="591562"/>
            <a:ext cx="10715760" cy="1026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6"/>
              </a:lnSpc>
              <a:spcBef>
                <a:spcPct val="0"/>
              </a:spcBef>
            </a:pPr>
            <a:r>
              <a:rPr lang="en-US" sz="779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EXECUÇÃO COM 2 PASSAGENS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199738"/>
            <a:ext cx="22274448" cy="7846858"/>
          </a:xfrm>
          <a:custGeom>
            <a:avLst/>
            <a:gdLst/>
            <a:ahLst/>
            <a:cxnLst/>
            <a:rect r="r" b="b" t="t" l="l"/>
            <a:pathLst>
              <a:path h="7846858" w="22274448">
                <a:moveTo>
                  <a:pt x="0" y="0"/>
                </a:moveTo>
                <a:lnTo>
                  <a:pt x="22274448" y="0"/>
                </a:lnTo>
                <a:lnTo>
                  <a:pt x="22274448" y="7846858"/>
                </a:lnTo>
                <a:lnTo>
                  <a:pt x="0" y="78468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96135" y="706816"/>
            <a:ext cx="7634612" cy="1026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6"/>
              </a:lnSpc>
              <a:spcBef>
                <a:spcPct val="0"/>
              </a:spcBef>
            </a:pPr>
            <a:r>
              <a:rPr lang="en-US" sz="779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RESUMO ESTATÍSTICO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239" y="7409039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3143158" y="6042776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9" y="0"/>
                </a:moveTo>
                <a:lnTo>
                  <a:pt x="0" y="0"/>
                </a:lnTo>
                <a:lnTo>
                  <a:pt x="0" y="1187583"/>
                </a:lnTo>
                <a:lnTo>
                  <a:pt x="734259" y="1187583"/>
                </a:lnTo>
                <a:lnTo>
                  <a:pt x="73425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83047" y="4524809"/>
            <a:ext cx="15861244" cy="102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96"/>
              </a:lnSpc>
              <a:spcBef>
                <a:spcPct val="0"/>
              </a:spcBef>
            </a:pPr>
            <a:r>
              <a:rPr lang="en-US" sz="7796">
                <a:solidFill>
                  <a:srgbClr val="5D5DA8"/>
                </a:solidFill>
                <a:latin typeface="Anton"/>
                <a:ea typeface="Anton"/>
                <a:cs typeface="Anton"/>
                <a:sym typeface="Anton"/>
              </a:rPr>
              <a:t>6- KATYANE DOS SANTOS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2250" y="623340"/>
            <a:ext cx="17383500" cy="9040320"/>
          </a:xfrm>
          <a:custGeom>
            <a:avLst/>
            <a:gdLst/>
            <a:ahLst/>
            <a:cxnLst/>
            <a:rect r="r" b="b" t="t" l="l"/>
            <a:pathLst>
              <a:path h="9040320" w="17383500">
                <a:moveTo>
                  <a:pt x="0" y="0"/>
                </a:moveTo>
                <a:lnTo>
                  <a:pt x="17383500" y="0"/>
                </a:lnTo>
                <a:lnTo>
                  <a:pt x="17383500" y="9040320"/>
                </a:lnTo>
                <a:lnTo>
                  <a:pt x="0" y="9040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12333"/>
            <a:ext cx="17076274" cy="9062334"/>
          </a:xfrm>
          <a:custGeom>
            <a:avLst/>
            <a:gdLst/>
            <a:ahLst/>
            <a:cxnLst/>
            <a:rect r="r" b="b" t="t" l="l"/>
            <a:pathLst>
              <a:path h="9062334" w="17076274">
                <a:moveTo>
                  <a:pt x="0" y="0"/>
                </a:moveTo>
                <a:lnTo>
                  <a:pt x="17076274" y="0"/>
                </a:lnTo>
                <a:lnTo>
                  <a:pt x="17076274" y="9062334"/>
                </a:lnTo>
                <a:lnTo>
                  <a:pt x="0" y="906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39"/>
            </a:stretch>
          </a:blipFill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39131"/>
            <a:ext cx="16634155" cy="9008738"/>
          </a:xfrm>
          <a:custGeom>
            <a:avLst/>
            <a:gdLst/>
            <a:ahLst/>
            <a:cxnLst/>
            <a:rect r="r" b="b" t="t" l="l"/>
            <a:pathLst>
              <a:path h="9008738" w="16634155">
                <a:moveTo>
                  <a:pt x="0" y="0"/>
                </a:moveTo>
                <a:lnTo>
                  <a:pt x="16634155" y="0"/>
                </a:lnTo>
                <a:lnTo>
                  <a:pt x="16634155" y="9008738"/>
                </a:lnTo>
                <a:lnTo>
                  <a:pt x="0" y="9008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2921" y="486356"/>
            <a:ext cx="17276440" cy="9258133"/>
          </a:xfrm>
          <a:custGeom>
            <a:avLst/>
            <a:gdLst/>
            <a:ahLst/>
            <a:cxnLst/>
            <a:rect r="r" b="b" t="t" l="l"/>
            <a:pathLst>
              <a:path h="9258133" w="17276440">
                <a:moveTo>
                  <a:pt x="0" y="0"/>
                </a:moveTo>
                <a:lnTo>
                  <a:pt x="17276440" y="0"/>
                </a:lnTo>
                <a:lnTo>
                  <a:pt x="17276440" y="9258132"/>
                </a:lnTo>
                <a:lnTo>
                  <a:pt x="0" y="92581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0447" y="1261352"/>
            <a:ext cx="16948656" cy="7032637"/>
          </a:xfrm>
          <a:custGeom>
            <a:avLst/>
            <a:gdLst/>
            <a:ahLst/>
            <a:cxnLst/>
            <a:rect r="r" b="b" t="t" l="l"/>
            <a:pathLst>
              <a:path h="7032637" w="16948656">
                <a:moveTo>
                  <a:pt x="0" y="0"/>
                </a:moveTo>
                <a:lnTo>
                  <a:pt x="16948656" y="0"/>
                </a:lnTo>
                <a:lnTo>
                  <a:pt x="16948656" y="7032637"/>
                </a:lnTo>
                <a:lnTo>
                  <a:pt x="0" y="703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81676" y="7646328"/>
            <a:ext cx="11557939" cy="1386920"/>
          </a:xfrm>
          <a:custGeom>
            <a:avLst/>
            <a:gdLst/>
            <a:ahLst/>
            <a:cxnLst/>
            <a:rect r="r" b="b" t="t" l="l"/>
            <a:pathLst>
              <a:path h="1386920" w="11557939">
                <a:moveTo>
                  <a:pt x="0" y="0"/>
                </a:moveTo>
                <a:lnTo>
                  <a:pt x="11557939" y="0"/>
                </a:lnTo>
                <a:lnTo>
                  <a:pt x="11557939" y="1386920"/>
                </a:lnTo>
                <a:lnTo>
                  <a:pt x="0" y="1386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0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31299" y="5683316"/>
            <a:ext cx="5981202" cy="1260409"/>
          </a:xfrm>
          <a:custGeom>
            <a:avLst/>
            <a:gdLst/>
            <a:ahLst/>
            <a:cxnLst/>
            <a:rect r="r" b="b" t="t" l="l"/>
            <a:pathLst>
              <a:path h="1260409" w="5981202">
                <a:moveTo>
                  <a:pt x="0" y="0"/>
                </a:moveTo>
                <a:lnTo>
                  <a:pt x="5981201" y="0"/>
                </a:lnTo>
                <a:lnTo>
                  <a:pt x="5981201" y="1260409"/>
                </a:lnTo>
                <a:lnTo>
                  <a:pt x="0" y="126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15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81676" y="8868000"/>
            <a:ext cx="11879214" cy="1040552"/>
          </a:xfrm>
          <a:custGeom>
            <a:avLst/>
            <a:gdLst/>
            <a:ahLst/>
            <a:cxnLst/>
            <a:rect r="r" b="b" t="t" l="l"/>
            <a:pathLst>
              <a:path h="1040552" w="11879214">
                <a:moveTo>
                  <a:pt x="0" y="0"/>
                </a:moveTo>
                <a:lnTo>
                  <a:pt x="11879215" y="0"/>
                </a:lnTo>
                <a:lnTo>
                  <a:pt x="11879215" y="1040552"/>
                </a:lnTo>
                <a:lnTo>
                  <a:pt x="0" y="1040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92" r="0" b="-189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53668" y="574722"/>
            <a:ext cx="14980665" cy="106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6"/>
              </a:lnSpc>
              <a:spcBef>
                <a:spcPct val="0"/>
              </a:spcBef>
            </a:pPr>
            <a:r>
              <a:rPr lang="en-US" sz="7996">
                <a:solidFill>
                  <a:srgbClr val="5555AB"/>
                </a:solidFill>
                <a:latin typeface="Anton"/>
                <a:ea typeface="Anton"/>
                <a:cs typeface="Anton"/>
                <a:sym typeface="Anton"/>
              </a:rPr>
              <a:t>AMBIENTE EXPERIMENTAL - C3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62885"/>
            <a:ext cx="552950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3A88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lang="en-US" sz="3399">
                <a:solidFill>
                  <a:srgbClr val="333A88"/>
                </a:solidFill>
                <a:latin typeface="Open Sans"/>
                <a:ea typeface="Open Sans"/>
                <a:cs typeface="Open Sans"/>
                <a:sym typeface="Open Sans"/>
              </a:rPr>
              <a:t>IRTUALIZAÇÃO E SISTEMA 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Oracle VirtualBox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Ubuntu 24.04.4 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106928" y="2762885"/>
            <a:ext cx="5330251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3A88"/>
                </a:solidFill>
                <a:latin typeface="Open Sans"/>
                <a:ea typeface="Open Sans"/>
                <a:cs typeface="Open Sans"/>
                <a:sym typeface="Open Sans"/>
              </a:rPr>
              <a:t>RECURSOS DA VM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AMD Ryz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 7 7435HS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 processadores lógicos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3,8 GiB de RAM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 GiB de swap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Execução em CPU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93122" y="3563185"/>
            <a:ext cx="10508457" cy="4243800"/>
          </a:xfrm>
          <a:custGeom>
            <a:avLst/>
            <a:gdLst/>
            <a:ahLst/>
            <a:cxnLst/>
            <a:rect r="r" b="b" t="t" l="l"/>
            <a:pathLst>
              <a:path h="4243800" w="10508457">
                <a:moveTo>
                  <a:pt x="0" y="0"/>
                </a:moveTo>
                <a:lnTo>
                  <a:pt x="10508457" y="0"/>
                </a:lnTo>
                <a:lnTo>
                  <a:pt x="10508457" y="4243800"/>
                </a:lnTo>
                <a:lnTo>
                  <a:pt x="0" y="4243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3668" y="574722"/>
            <a:ext cx="14980665" cy="106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6"/>
              </a:lnSpc>
              <a:spcBef>
                <a:spcPct val="0"/>
              </a:spcBef>
            </a:pPr>
            <a:r>
              <a:rPr lang="en-US" sz="7996">
                <a:solidFill>
                  <a:srgbClr val="5555AB"/>
                </a:solidFill>
                <a:latin typeface="Anton"/>
                <a:ea typeface="Anton"/>
                <a:cs typeface="Anton"/>
                <a:sym typeface="Anton"/>
              </a:rPr>
              <a:t>METODOLOGIA — CONFIGURAÇÃO C3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37695"/>
            <a:ext cx="6067187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5555AB"/>
                </a:solidFill>
                <a:latin typeface="Open Sans"/>
                <a:ea typeface="Open Sans"/>
                <a:cs typeface="Open Sans"/>
                <a:sym typeface="Open Sans"/>
              </a:rPr>
              <a:t>VAR</a:t>
            </a:r>
            <a:r>
              <a:rPr lang="en-US" sz="3399">
                <a:solidFill>
                  <a:srgbClr val="5555AB"/>
                </a:solidFill>
                <a:latin typeface="Open Sans"/>
                <a:ea typeface="Open Sans"/>
                <a:cs typeface="Open Sans"/>
                <a:sym typeface="Open Sans"/>
              </a:rPr>
              <a:t>IÁVEL ALTERADA</a:t>
            </a:r>
          </a:p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1024 tokens   ×   4096 tokens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Janela de contexto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num_ctx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618410"/>
            <a:ext cx="6067187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>
                <a:solidFill>
                  <a:srgbClr val="333A88"/>
                </a:solidFill>
                <a:latin typeface="Open Sans"/>
                <a:ea typeface="Open Sans"/>
                <a:cs typeface="Open Sans"/>
                <a:sym typeface="Open Sans"/>
              </a:rPr>
              <a:t>COND</a:t>
            </a:r>
            <a:r>
              <a:rPr lang="en-US" sz="3399">
                <a:solidFill>
                  <a:srgbClr val="333A88"/>
                </a:solidFill>
                <a:latin typeface="Open Sans"/>
                <a:ea typeface="Open Sans"/>
                <a:cs typeface="Open Sans"/>
                <a:sym typeface="Open Sans"/>
              </a:rPr>
              <a:t>IÇÕES MANTIDAS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Mesmo modelo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Mesmo prompt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Mesmo ambiente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Mesma quantização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Execução em CPU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34225" y="8151856"/>
            <a:ext cx="6479739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Exemplo da requisição com num_ctx = 4096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36987" y="2106983"/>
            <a:ext cx="12504591" cy="4300712"/>
          </a:xfrm>
          <a:custGeom>
            <a:avLst/>
            <a:gdLst/>
            <a:ahLst/>
            <a:cxnLst/>
            <a:rect r="r" b="b" t="t" l="l"/>
            <a:pathLst>
              <a:path h="4300712" w="12504591">
                <a:moveTo>
                  <a:pt x="0" y="0"/>
                </a:moveTo>
                <a:lnTo>
                  <a:pt x="12504591" y="0"/>
                </a:lnTo>
                <a:lnTo>
                  <a:pt x="12504591" y="4300712"/>
                </a:lnTo>
                <a:lnTo>
                  <a:pt x="0" y="4300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93759" y="6631472"/>
            <a:ext cx="11191046" cy="3655528"/>
          </a:xfrm>
          <a:custGeom>
            <a:avLst/>
            <a:gdLst/>
            <a:ahLst/>
            <a:cxnLst/>
            <a:rect r="r" b="b" t="t" l="l"/>
            <a:pathLst>
              <a:path h="3655528" w="11191046">
                <a:moveTo>
                  <a:pt x="0" y="0"/>
                </a:moveTo>
                <a:lnTo>
                  <a:pt x="11191047" y="0"/>
                </a:lnTo>
                <a:lnTo>
                  <a:pt x="11191047" y="3655528"/>
                </a:lnTo>
                <a:lnTo>
                  <a:pt x="0" y="3655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53668" y="574722"/>
            <a:ext cx="14980665" cy="106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6"/>
              </a:lnSpc>
              <a:spcBef>
                <a:spcPct val="0"/>
              </a:spcBef>
            </a:pPr>
            <a:r>
              <a:rPr lang="en-US" sz="7996">
                <a:solidFill>
                  <a:srgbClr val="5555AB"/>
                </a:solidFill>
                <a:latin typeface="Anton"/>
                <a:ea typeface="Anton"/>
                <a:cs typeface="Anton"/>
                <a:sym typeface="Anton"/>
              </a:rPr>
              <a:t>RESULTADOS — CONFIGURAÇÃO C3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0272" y="2257496"/>
            <a:ext cx="9354243" cy="6681602"/>
          </a:xfrm>
          <a:custGeom>
            <a:avLst/>
            <a:gdLst/>
            <a:ahLst/>
            <a:cxnLst/>
            <a:rect r="r" b="b" t="t" l="l"/>
            <a:pathLst>
              <a:path h="6681602" w="9354243">
                <a:moveTo>
                  <a:pt x="0" y="0"/>
                </a:moveTo>
                <a:lnTo>
                  <a:pt x="9354243" y="0"/>
                </a:lnTo>
                <a:lnTo>
                  <a:pt x="9354243" y="6681603"/>
                </a:lnTo>
                <a:lnTo>
                  <a:pt x="0" y="6681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3668" y="574722"/>
            <a:ext cx="14980665" cy="106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6"/>
              </a:lnSpc>
              <a:spcBef>
                <a:spcPct val="0"/>
              </a:spcBef>
            </a:pPr>
            <a:r>
              <a:rPr lang="en-US" sz="7996">
                <a:solidFill>
                  <a:srgbClr val="5555AB"/>
                </a:solidFill>
                <a:latin typeface="Anton"/>
                <a:ea typeface="Anton"/>
                <a:cs typeface="Anton"/>
                <a:sym typeface="Anton"/>
              </a:rPr>
              <a:t>COMPARAÇÃO DOS RESULTADOS — C3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958301" y="3734509"/>
            <a:ext cx="4319414" cy="349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6"/>
              </a:lnSpc>
            </a:pPr>
            <a:r>
              <a:rPr lang="en-US" sz="28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+12,4%</a:t>
            </a:r>
          </a:p>
          <a:p>
            <a:pPr algn="ctr">
              <a:lnSpc>
                <a:spcPts val="3986"/>
              </a:lnSpc>
            </a:pPr>
            <a:r>
              <a:rPr lang="en-US" sz="28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tempo total médio</a:t>
            </a:r>
          </a:p>
          <a:p>
            <a:pPr algn="ctr">
              <a:lnSpc>
                <a:spcPts val="3986"/>
              </a:lnSpc>
            </a:pPr>
            <a:r>
              <a:rPr lang="en-US" sz="28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+127%</a:t>
            </a:r>
          </a:p>
          <a:p>
            <a:pPr algn="ctr">
              <a:lnSpc>
                <a:spcPts val="3986"/>
              </a:lnSpc>
            </a:pPr>
            <a:r>
              <a:rPr lang="en-US" sz="28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tempo médio de geração</a:t>
            </a:r>
          </a:p>
          <a:p>
            <a:pPr algn="ctr">
              <a:lnSpc>
                <a:spcPts val="3986"/>
              </a:lnSpc>
            </a:pPr>
            <a:r>
              <a:rPr lang="en-US" sz="28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−71,7%</a:t>
            </a:r>
          </a:p>
          <a:p>
            <a:pPr algn="ctr">
              <a:lnSpc>
                <a:spcPts val="3986"/>
              </a:lnSpc>
            </a:pPr>
            <a:r>
              <a:rPr lang="en-US" sz="284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velocidade média</a:t>
            </a:r>
          </a:p>
          <a:p>
            <a:pPr algn="ctr">
              <a:lnSpc>
                <a:spcPts val="3986"/>
              </a:lnSpc>
            </a:pP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53668" y="574722"/>
            <a:ext cx="14980665" cy="106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6"/>
              </a:lnSpc>
              <a:spcBef>
                <a:spcPct val="0"/>
              </a:spcBef>
            </a:pPr>
            <a:r>
              <a:rPr lang="en-US" sz="7996">
                <a:solidFill>
                  <a:srgbClr val="5555AB"/>
                </a:solidFill>
                <a:latin typeface="Anton"/>
                <a:ea typeface="Anton"/>
                <a:cs typeface="Anton"/>
                <a:sym typeface="Anton"/>
              </a:rPr>
              <a:t>LIMITAÇÕES E CONCLUSÃO - C3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76809" y="2270055"/>
            <a:ext cx="395085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5555A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LIMITAÇÕES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2166" y="2270055"/>
            <a:ext cx="65971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5555A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08439" y="5076825"/>
            <a:ext cx="548759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3,8 GiB de RAM 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 VM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 GiB de swap necessários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OOM Killer sem swap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 timeout com 4096 tokens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45982" y="5076825"/>
            <a:ext cx="6213318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4096 toke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ns aumentou o tempo total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Tempo de geração também aumentou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Velocidade média caiu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Maior contexto reduziu a previsibilidade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53668" y="574722"/>
            <a:ext cx="14980665" cy="106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6"/>
              </a:lnSpc>
              <a:spcBef>
                <a:spcPct val="0"/>
              </a:spcBef>
            </a:pPr>
            <a:r>
              <a:rPr lang="en-US" sz="7996">
                <a:solidFill>
                  <a:srgbClr val="5555AB"/>
                </a:solidFill>
                <a:latin typeface="Anton"/>
                <a:ea typeface="Anton"/>
                <a:cs typeface="Anton"/>
                <a:sym typeface="Anton"/>
              </a:rPr>
              <a:t>CONCLUSÃO DO TRABALHO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004555"/>
            <a:ext cx="182880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 execução local de 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 é viável, mas seu desempenho depende diretamente dos recursos administrados pelo Sistema Operacional.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625054"/>
            <a:ext cx="5106829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EXECUCÃO LOCAL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Ollama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Open WebUI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Gemma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Funcionaram Localmente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04149" y="4625054"/>
            <a:ext cx="5106829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RECURSOS DO SO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CPU, RAM, SWAP, processos e threads impactam desempenho e estabilidade.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61718" y="4625054"/>
            <a:ext cx="5106829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TRADE-OFFS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Mais concorrência → maior latência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Maior contexto → maior custo e menor previsibilidade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47891" y="4169663"/>
            <a:ext cx="11589661" cy="227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12"/>
              </a:lnSpc>
            </a:pPr>
            <a:r>
              <a:rPr lang="en-US" sz="1711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DAHVAuWcakM</dc:identifier>
  <dcterms:modified xsi:type="dcterms:W3CDTF">2011-08-01T06:04:30Z</dcterms:modified>
  <cp:revision>1</cp:revision>
  <dc:title>Sistemas Operacionais - Equipe Genma</dc:title>
</cp:coreProperties>
</file>